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24"/>
  </p:notesMasterIdLst>
  <p:sldIdLst>
    <p:sldId id="483" r:id="rId2"/>
    <p:sldId id="484" r:id="rId3"/>
    <p:sldId id="470" r:id="rId4"/>
    <p:sldId id="486" r:id="rId5"/>
    <p:sldId id="487" r:id="rId6"/>
    <p:sldId id="478" r:id="rId7"/>
    <p:sldId id="488" r:id="rId8"/>
    <p:sldId id="480" r:id="rId9"/>
    <p:sldId id="482" r:id="rId10"/>
    <p:sldId id="489" r:id="rId11"/>
    <p:sldId id="490" r:id="rId12"/>
    <p:sldId id="491" r:id="rId13"/>
    <p:sldId id="493" r:id="rId14"/>
    <p:sldId id="494" r:id="rId15"/>
    <p:sldId id="495" r:id="rId16"/>
    <p:sldId id="497" r:id="rId17"/>
    <p:sldId id="498" r:id="rId18"/>
    <p:sldId id="499" r:id="rId19"/>
    <p:sldId id="476" r:id="rId20"/>
    <p:sldId id="485" r:id="rId21"/>
    <p:sldId id="501" r:id="rId22"/>
    <p:sldId id="468" r:id="rId23"/>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p:cViewPr varScale="1">
        <p:scale>
          <a:sx n="72" d="100"/>
          <a:sy n="72" d="100"/>
        </p:scale>
        <p:origin x="858" y="72"/>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0</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r>
            <a:rPr lang="en-US" sz="1300" dirty="0" smtClean="0">
              <a:latin typeface="Times New Roman" panose="02020603050405020304" pitchFamily="18" charset="0"/>
              <a:cs typeface="Times New Roman" panose="02020603050405020304" pitchFamily="18" charset="0"/>
            </a:rPr>
            <a:t>In the first phase of my internship, I gained hands-on experience in desktop support and basic networking, troubleshooting issues and assisting with system and network configurations.</a:t>
          </a:r>
          <a:endParaRPr lang="en-US" sz="130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9FED87C4-3F3B-4A18-9185-9F80CFEDEA2E}">
      <dgm:prSet phldrT="[Text]" custT="1"/>
      <dgm:spPr/>
      <dgm:t>
        <a:bodyPr/>
        <a:lstStyle/>
        <a:p>
          <a:r>
            <a:rPr lang="en-US" sz="1000" dirty="0" smtClean="0">
              <a:latin typeface="Times New Roman" panose="02020603050405020304" pitchFamily="18" charset="0"/>
              <a:cs typeface="Times New Roman" panose="02020603050405020304" pitchFamily="18" charset="0"/>
            </a:rPr>
            <a:t>During the second phase of my internship, I maintained and optimized the company’s internal network ensuring stable communication across systems. I provided technical support for desktop systems, troubleshooting hardware and software issues. Additionally, I contributed to configuring and managing end-user applications. </a:t>
          </a:r>
          <a:endParaRPr lang="en-US" sz="10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B81593E2-4CAC-4783-8D2D-E9DDD236A942}" type="sibTrans" cxnId="{6C7D4BBB-EED6-4011-9FBC-87F683D5B245}">
      <dgm:prSet/>
      <dgm:spPr/>
      <dgm:t>
        <a:bodyPr/>
        <a:lstStyle/>
        <a:p>
          <a:endParaRPr lang="en-US"/>
        </a:p>
      </dgm:t>
    </dgm:pt>
    <dgm:pt modelId="{F772EF41-D2BB-4368-8327-B4E332165F48}" type="parTrans" cxnId="{6C7D4BBB-EED6-4011-9FBC-87F683D5B245}">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2868AD8D-4E38-46CE-A972-709857BF40AC}" type="sibTrans" cxnId="{D1BA1DD0-A52A-47BF-962D-9810C87E1576}">
      <dgm:prSet/>
      <dgm:spPr/>
      <dgm:t>
        <a:bodyPr/>
        <a:lstStyle/>
        <a:p>
          <a:endParaRPr lang="en-US"/>
        </a:p>
      </dgm:t>
    </dgm:pt>
    <dgm:pt modelId="{0095C3CB-916F-4060-A8DA-DD282FB51587}" type="parTrans" cxnId="{D1BA1DD0-A52A-47BF-962D-9810C87E1576}">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0" presStyleCnt="4"/>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0" presStyleCnt="4">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1" presStyleCnt="4"/>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1" presStyleCnt="4">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2" presStyleCnt="4"/>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2" presStyleCnt="4">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3" presStyleCnt="4"/>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3" presStyleCnt="4">
        <dgm:presLayoutVars>
          <dgm:chMax val="2"/>
          <dgm:chPref val="1"/>
          <dgm:bulletEnabled val="1"/>
        </dgm:presLayoutVars>
      </dgm:prSet>
      <dgm:spPr/>
      <dgm:t>
        <a:bodyPr/>
        <a:lstStyle/>
        <a:p>
          <a:endParaRPr lang="en-US"/>
        </a:p>
      </dgm:t>
    </dgm:pt>
  </dgm:ptLst>
  <dgm:cxnLst>
    <dgm:cxn modelId="{45270D25-428B-4D13-96B6-70A52338AE53}" type="presOf" srcId="{988D96B0-D16E-4763-B393-84178CF4FF50}" destId="{65257024-FAC0-4522-B139-1CC85B547BE8}" srcOrd="0" destOrd="0" presId="urn:microsoft.com/office/officeart/2011/layout/InterconnectedBlockProcess"/>
    <dgm:cxn modelId="{EE32DD29-1088-4A6B-ABC7-885A718C60CA}" type="presOf" srcId="{D471E45F-B026-44AA-9616-57E786AE80AF}" destId="{A134CDD1-D85F-44EF-8BEE-9F99A855C1E6}"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7968BEFA-737C-4540-8116-892FA4A56765}" type="presOf" srcId="{73DB572E-062D-41AD-8033-D361B8E583DB}" destId="{0D08ED52-6744-4369-B780-916B09984775}" srcOrd="1" destOrd="0" presId="urn:microsoft.com/office/officeart/2011/layout/InterconnectedBlockProcess"/>
    <dgm:cxn modelId="{F68F949A-245C-4136-B9D7-9229F30FDEC9}" type="presOf" srcId="{A59EC69B-8F3F-425B-819F-E8C557946AEE}" destId="{4C66D42D-7E6D-4563-AFDC-369C30B73F70}" srcOrd="0" destOrd="0" presId="urn:microsoft.com/office/officeart/2011/layout/InterconnectedBlockProcess"/>
    <dgm:cxn modelId="{5088B72B-A58C-4D5F-B56F-2A1C0C405D92}" type="presOf" srcId="{7B3055AA-BF7C-46D0-9A9E-60087B9F57B4}" destId="{00BB3360-A9BB-4051-A4B1-1216F82F642C}" srcOrd="0" destOrd="0" presId="urn:microsoft.com/office/officeart/2011/layout/InterconnectedBlockProcess"/>
    <dgm:cxn modelId="{1CF0C9EC-03B3-43C7-AC62-87DAFD9D1635}" type="presOf" srcId="{9FED87C4-3F3B-4A18-9185-9F80CFEDEA2E}" destId="{06F8D57B-EDF4-4CF4-8700-DC2CA3E3028E}"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ED6BF78A-381A-40F3-A9EB-F252D63F0707}" type="presOf" srcId="{73DB572E-062D-41AD-8033-D361B8E583DB}" destId="{2532504F-5FE1-4C97-B485-F05E8885EACC}"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02D0CD8C-C59F-405A-AAC8-89AA97D36D41}" type="presOf" srcId="{9FED87C4-3F3B-4A18-9185-9F80CFEDEA2E}" destId="{6BCCFBA6-7A43-4631-AD7F-AFB10E1E6CD7}" srcOrd="1" destOrd="0" presId="urn:microsoft.com/office/officeart/2011/layout/InterconnectedBlockProcess"/>
    <dgm:cxn modelId="{A89E8CCE-DC9D-4BC1-984D-FEF289B82C65}" type="presOf" srcId="{5751524B-FB67-4894-A0C5-35151E149D68}" destId="{A6BCDA7B-D633-438F-B44D-CB4D60E5C492}" srcOrd="0" destOrd="0" presId="urn:microsoft.com/office/officeart/2011/layout/InterconnectedBlockProcess"/>
    <dgm:cxn modelId="{E3292D60-84FF-4CC1-B475-12D7D4F90772}" type="presOf" srcId="{D471E45F-B026-44AA-9616-57E786AE80AF}" destId="{1C91D7E3-8940-4A33-9182-677DD5415901}" srcOrd="1" destOrd="0"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D1BA1DD0-A52A-47BF-962D-9810C87E1576}" srcId="{5751524B-FB67-4894-A0C5-35151E149D68}" destId="{A59EC69B-8F3F-425B-819F-E8C557946AEE}" srcOrd="2" destOrd="0" parTransId="{0095C3CB-916F-4060-A8DA-DD282FB51587}" sibTransId="{2868AD8D-4E38-46CE-A972-709857BF40AC}"/>
    <dgm:cxn modelId="{2C934C00-3DCA-4C23-8911-F378A90D516E}" type="presOf" srcId="{5E92505A-51E0-4F78-B3C5-704ACF8710DE}" destId="{2AAD338D-3122-4454-9A67-16BE024D44E3}"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6CA9A5D7-C24A-4CF2-BE1F-6E21DB839128}" type="presParOf" srcId="{A6BCDA7B-D633-438F-B44D-CB4D60E5C492}" destId="{EA3B7F60-AEEC-41A8-8A2C-D3679EFCD073}" srcOrd="0" destOrd="0" presId="urn:microsoft.com/office/officeart/2011/layout/InterconnectedBlockProcess"/>
    <dgm:cxn modelId="{BBB5CABF-20C5-47F6-80F7-7C69D2F2EB05}" type="presParOf" srcId="{EA3B7F60-AEEC-41A8-8A2C-D3679EFCD073}" destId="{FC0F1314-3294-4A8C-8DCE-EB53E236164C}" srcOrd="0" destOrd="0" presId="urn:microsoft.com/office/officeart/2011/layout/InterconnectedBlockProcess"/>
    <dgm:cxn modelId="{75E25B52-D460-4F8E-9628-E5733C416215}" type="presParOf" srcId="{A6BCDA7B-D633-438F-B44D-CB4D60E5C492}" destId="{98225A61-A0EC-450A-BED8-EF2E47E8FD18}" srcOrd="1" destOrd="0" presId="urn:microsoft.com/office/officeart/2011/layout/InterconnectedBlockProcess"/>
    <dgm:cxn modelId="{181DD3DA-835B-424D-BA41-90E54820644A}" type="presParOf" srcId="{A6BCDA7B-D633-438F-B44D-CB4D60E5C492}" destId="{2AAD338D-3122-4454-9A67-16BE024D44E3}" srcOrd="2" destOrd="0" presId="urn:microsoft.com/office/officeart/2011/layout/InterconnectedBlockProcess"/>
    <dgm:cxn modelId="{8763BB5B-6F4C-4D47-85B1-62610FE5B298}" type="presParOf" srcId="{A6BCDA7B-D633-438F-B44D-CB4D60E5C492}" destId="{96AFCF47-32CA-4C44-9E3C-782007B7112E}" srcOrd="3" destOrd="0" presId="urn:microsoft.com/office/officeart/2011/layout/InterconnectedBlockProcess"/>
    <dgm:cxn modelId="{DEC84310-B2F7-4E69-8F89-299DFF887707}" type="presParOf" srcId="{96AFCF47-32CA-4C44-9E3C-782007B7112E}" destId="{2532504F-5FE1-4C97-B485-F05E8885EACC}" srcOrd="0" destOrd="0" presId="urn:microsoft.com/office/officeart/2011/layout/InterconnectedBlockProcess"/>
    <dgm:cxn modelId="{411A5A8E-BF9A-4918-B1BF-97B5D2E1CE75}" type="presParOf" srcId="{A6BCDA7B-D633-438F-B44D-CB4D60E5C492}" destId="{0D08ED52-6744-4369-B780-916B09984775}" srcOrd="4" destOrd="0" presId="urn:microsoft.com/office/officeart/2011/layout/InterconnectedBlockProcess"/>
    <dgm:cxn modelId="{F96AEFC3-668C-485E-AC28-DE7FA02228A9}" type="presParOf" srcId="{A6BCDA7B-D633-438F-B44D-CB4D60E5C492}" destId="{4C66D42D-7E6D-4563-AFDC-369C30B73F70}" srcOrd="5" destOrd="0" presId="urn:microsoft.com/office/officeart/2011/layout/InterconnectedBlockProcess"/>
    <dgm:cxn modelId="{7911F644-0138-4A4E-B810-F025BD63CD8F}" type="presParOf" srcId="{A6BCDA7B-D633-438F-B44D-CB4D60E5C492}" destId="{C1269CE6-C767-48CC-AAFD-A238D1FFDABA}" srcOrd="6" destOrd="0" presId="urn:microsoft.com/office/officeart/2011/layout/InterconnectedBlockProcess"/>
    <dgm:cxn modelId="{5AA2FD48-021E-4A53-964C-DD52EA8D7653}" type="presParOf" srcId="{C1269CE6-C767-48CC-AAFD-A238D1FFDABA}" destId="{06F8D57B-EDF4-4CF4-8700-DC2CA3E3028E}" srcOrd="0" destOrd="0" presId="urn:microsoft.com/office/officeart/2011/layout/InterconnectedBlockProcess"/>
    <dgm:cxn modelId="{ABEDFE72-13B5-44DF-B596-B4EEFE4E8FE3}" type="presParOf" srcId="{A6BCDA7B-D633-438F-B44D-CB4D60E5C492}" destId="{6BCCFBA6-7A43-4631-AD7F-AFB10E1E6CD7}" srcOrd="7" destOrd="0" presId="urn:microsoft.com/office/officeart/2011/layout/InterconnectedBlockProcess"/>
    <dgm:cxn modelId="{214D504B-4CBF-4B7C-A0E7-B63D10D9DDB1}" type="presParOf" srcId="{A6BCDA7B-D633-438F-B44D-CB4D60E5C492}" destId="{00BB3360-A9BB-4051-A4B1-1216F82F642C}" srcOrd="8" destOrd="0" presId="urn:microsoft.com/office/officeart/2011/layout/InterconnectedBlockProcess"/>
    <dgm:cxn modelId="{07B34F88-773E-4FE4-8638-A7CCDA760808}" type="presParOf" srcId="{A6BCDA7B-D633-438F-B44D-CB4D60E5C492}" destId="{7305DF14-0FF5-45E4-8B19-015814092DBD}" srcOrd="9" destOrd="0" presId="urn:microsoft.com/office/officeart/2011/layout/InterconnectedBlockProcess"/>
    <dgm:cxn modelId="{362691DD-4B1E-4FC2-8550-02C45B3B7FBC}" type="presParOf" srcId="{7305DF14-0FF5-45E4-8B19-015814092DBD}" destId="{A134CDD1-D85F-44EF-8BEE-9F99A855C1E6}" srcOrd="0" destOrd="0" presId="urn:microsoft.com/office/officeart/2011/layout/InterconnectedBlockProcess"/>
    <dgm:cxn modelId="{63B69D61-D405-4261-BFDE-C503872760F8}" type="presParOf" srcId="{A6BCDA7B-D633-438F-B44D-CB4D60E5C492}" destId="{1C91D7E3-8940-4A33-9182-677DD5415901}" srcOrd="10" destOrd="0" presId="urn:microsoft.com/office/officeart/2011/layout/InterconnectedBlockProcess"/>
    <dgm:cxn modelId="{C9F769F8-3C09-4DEC-B20E-9972D58EEAFC}" type="presParOf" srcId="{A6BCDA7B-D633-438F-B44D-CB4D60E5C492}" destId="{65257024-FAC0-4522-B139-1CC85B547BE8}" srcOrd="11"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F1314-3294-4A8C-8DCE-EB53E236164C}">
      <dsp:nvSpPr>
        <dsp:cNvPr id="0" name=""/>
        <dsp:cNvSpPr/>
      </dsp:nvSpPr>
      <dsp:spPr>
        <a:xfrm>
          <a:off x="6639818" y="767810"/>
          <a:ext cx="1382018" cy="3290384"/>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6639818" y="0"/>
          <a:ext cx="1382018" cy="7678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lvl="0" algn="ctr" defTabSz="977900">
            <a:lnSpc>
              <a:spcPct val="90000"/>
            </a:lnSpc>
            <a:spcBef>
              <a:spcPct val="0"/>
            </a:spcBef>
            <a:spcAft>
              <a:spcPct val="35000"/>
            </a:spcAft>
          </a:pPr>
          <a:r>
            <a:rPr lang="en-US" sz="2200" kern="1200" dirty="0" smtClean="0">
              <a:latin typeface="Times New Roman" panose="02020603050405020304" pitchFamily="18" charset="0"/>
              <a:cs typeface="Times New Roman" panose="02020603050405020304" pitchFamily="18" charset="0"/>
            </a:rPr>
            <a:t>Review 3</a:t>
          </a:r>
          <a:endParaRPr lang="en-US" sz="2200" kern="1200" dirty="0">
            <a:latin typeface="Times New Roman" panose="02020603050405020304" pitchFamily="18" charset="0"/>
            <a:cs typeface="Times New Roman" panose="02020603050405020304" pitchFamily="18" charset="0"/>
          </a:endParaRPr>
        </a:p>
      </dsp:txBody>
      <dsp:txXfrm>
        <a:off x="6639818" y="0"/>
        <a:ext cx="1382018" cy="767810"/>
      </dsp:txXfrm>
    </dsp:sp>
    <dsp:sp modelId="{2532504F-5FE1-4C97-B485-F05E8885EACC}">
      <dsp:nvSpPr>
        <dsp:cNvPr id="0" name=""/>
        <dsp:cNvSpPr/>
      </dsp:nvSpPr>
      <dsp:spPr>
        <a:xfrm>
          <a:off x="5257800" y="767810"/>
          <a:ext cx="1382018" cy="3071241"/>
        </a:xfrm>
        <a:prstGeom prst="wedgeRectCallout">
          <a:avLst>
            <a:gd name="adj1" fmla="val 62500"/>
            <a:gd name="adj2" fmla="val 20830"/>
          </a:avLst>
        </a:prstGeom>
        <a:solidFill>
          <a:schemeClr val="accent1">
            <a:tint val="50000"/>
            <a:hueOff val="-4019912"/>
            <a:satOff val="8042"/>
            <a:lumOff val="34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850" tIns="69850" rIns="69850" bIns="69850" numCol="1" spcCol="1270" anchor="t" anchorCtr="0">
          <a:noAutofit/>
        </a:bodyPr>
        <a:lstStyle/>
        <a:p>
          <a:pPr lvl="0" algn="r" defTabSz="977900">
            <a:lnSpc>
              <a:spcPct val="90000"/>
            </a:lnSpc>
            <a:spcBef>
              <a:spcPct val="0"/>
            </a:spcBef>
            <a:spcAft>
              <a:spcPct val="35000"/>
            </a:spcAft>
          </a:pPr>
          <a:endParaRPr lang="en-US" sz="2200" kern="1200" dirty="0">
            <a:latin typeface="Times New Roman" panose="02020603050405020304" pitchFamily="18" charset="0"/>
            <a:cs typeface="Times New Roman" panose="02020603050405020304" pitchFamily="18" charset="0"/>
          </a:endParaRPr>
        </a:p>
      </dsp:txBody>
      <dsp:txXfrm>
        <a:off x="5433039" y="767810"/>
        <a:ext cx="1206778" cy="3071241"/>
      </dsp:txXfrm>
    </dsp:sp>
    <dsp:sp modelId="{4C66D42D-7E6D-4563-AFDC-369C30B73F70}">
      <dsp:nvSpPr>
        <dsp:cNvPr id="0" name=""/>
        <dsp:cNvSpPr/>
      </dsp:nvSpPr>
      <dsp:spPr>
        <a:xfrm>
          <a:off x="5257800" y="111600"/>
          <a:ext cx="1382018" cy="65823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lvl="0" algn="ctr" defTabSz="977900">
            <a:lnSpc>
              <a:spcPct val="90000"/>
            </a:lnSpc>
            <a:spcBef>
              <a:spcPct val="0"/>
            </a:spcBef>
            <a:spcAft>
              <a:spcPct val="35000"/>
            </a:spcAft>
          </a:pPr>
          <a:r>
            <a:rPr lang="en-US" sz="2200" kern="1200" dirty="0" smtClean="0">
              <a:latin typeface="Times New Roman" panose="02020603050405020304" pitchFamily="18" charset="0"/>
              <a:cs typeface="Times New Roman" panose="02020603050405020304" pitchFamily="18" charset="0"/>
            </a:rPr>
            <a:t>Review 2</a:t>
          </a:r>
          <a:endParaRPr lang="en-US" sz="2200" kern="1200" dirty="0">
            <a:latin typeface="Times New Roman" panose="02020603050405020304" pitchFamily="18" charset="0"/>
            <a:cs typeface="Times New Roman" panose="02020603050405020304" pitchFamily="18" charset="0"/>
          </a:endParaRPr>
        </a:p>
      </dsp:txBody>
      <dsp:txXfrm>
        <a:off x="5257800" y="111600"/>
        <a:ext cx="1382018" cy="658239"/>
      </dsp:txXfrm>
    </dsp:sp>
    <dsp:sp modelId="{06F8D57B-EDF4-4CF4-8700-DC2CA3E3028E}">
      <dsp:nvSpPr>
        <dsp:cNvPr id="0" name=""/>
        <dsp:cNvSpPr/>
      </dsp:nvSpPr>
      <dsp:spPr>
        <a:xfrm>
          <a:off x="3875781" y="767810"/>
          <a:ext cx="1382018" cy="2851693"/>
        </a:xfrm>
        <a:prstGeom prst="wedgeRectCallout">
          <a:avLst>
            <a:gd name="adj1" fmla="val 62500"/>
            <a:gd name="adj2" fmla="val 20830"/>
          </a:avLst>
        </a:prstGeom>
        <a:solidFill>
          <a:schemeClr val="accent1">
            <a:tint val="50000"/>
            <a:hueOff val="-8039823"/>
            <a:satOff val="16083"/>
            <a:lumOff val="6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t" anchorCtr="0">
          <a:noAutofit/>
        </a:bodyPr>
        <a:lstStyle/>
        <a:p>
          <a:pPr lvl="0" algn="r" defTabSz="444500">
            <a:lnSpc>
              <a:spcPct val="90000"/>
            </a:lnSpc>
            <a:spcBef>
              <a:spcPct val="0"/>
            </a:spcBef>
            <a:spcAft>
              <a:spcPct val="35000"/>
            </a:spcAft>
          </a:pPr>
          <a:r>
            <a:rPr lang="en-US" sz="1000" kern="1200" dirty="0" smtClean="0">
              <a:latin typeface="Times New Roman" panose="02020603050405020304" pitchFamily="18" charset="0"/>
              <a:cs typeface="Times New Roman" panose="02020603050405020304" pitchFamily="18" charset="0"/>
            </a:rPr>
            <a:t>During the second phase of my internship, I maintained and optimized the company’s internal network ensuring stable communication across systems. I provided technical support for desktop systems, troubleshooting hardware and software issues. Additionally, I contributed to configuring and managing end-user applications. </a:t>
          </a:r>
          <a:endParaRPr lang="en-US" sz="1000" kern="1200" dirty="0">
            <a:latin typeface="Times New Roman" panose="02020603050405020304" pitchFamily="18" charset="0"/>
            <a:cs typeface="Times New Roman" panose="02020603050405020304" pitchFamily="18" charset="0"/>
          </a:endParaRPr>
        </a:p>
      </dsp:txBody>
      <dsp:txXfrm>
        <a:off x="4051021" y="767810"/>
        <a:ext cx="1206778" cy="2851693"/>
      </dsp:txXfrm>
    </dsp:sp>
    <dsp:sp modelId="{00BB3360-A9BB-4051-A4B1-1216F82F642C}">
      <dsp:nvSpPr>
        <dsp:cNvPr id="0" name=""/>
        <dsp:cNvSpPr/>
      </dsp:nvSpPr>
      <dsp:spPr>
        <a:xfrm>
          <a:off x="3875781" y="219548"/>
          <a:ext cx="1382018" cy="54826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lvl="0" algn="ctr" defTabSz="977900">
            <a:lnSpc>
              <a:spcPct val="90000"/>
            </a:lnSpc>
            <a:spcBef>
              <a:spcPct val="0"/>
            </a:spcBef>
            <a:spcAft>
              <a:spcPct val="35000"/>
            </a:spcAft>
          </a:pPr>
          <a:r>
            <a:rPr lang="en-US" sz="2200" kern="1200" dirty="0" smtClean="0">
              <a:latin typeface="Times New Roman" panose="02020603050405020304" pitchFamily="18" charset="0"/>
              <a:cs typeface="Times New Roman" panose="02020603050405020304" pitchFamily="18" charset="0"/>
            </a:rPr>
            <a:t>Review 1</a:t>
          </a:r>
          <a:endParaRPr lang="en-US" sz="2200" kern="1200" dirty="0">
            <a:latin typeface="Times New Roman" panose="02020603050405020304" pitchFamily="18" charset="0"/>
            <a:cs typeface="Times New Roman" panose="02020603050405020304" pitchFamily="18" charset="0"/>
          </a:endParaRPr>
        </a:p>
      </dsp:txBody>
      <dsp:txXfrm>
        <a:off x="3875781" y="219548"/>
        <a:ext cx="1382018" cy="548262"/>
      </dsp:txXfrm>
    </dsp:sp>
    <dsp:sp modelId="{A134CDD1-D85F-44EF-8BEE-9F99A855C1E6}">
      <dsp:nvSpPr>
        <dsp:cNvPr id="0" name=""/>
        <dsp:cNvSpPr/>
      </dsp:nvSpPr>
      <dsp:spPr>
        <a:xfrm>
          <a:off x="2493763" y="767810"/>
          <a:ext cx="1382018" cy="2632145"/>
        </a:xfrm>
        <a:prstGeom prst="wedgeRectCallout">
          <a:avLst>
            <a:gd name="adj1" fmla="val 62500"/>
            <a:gd name="adj2" fmla="val 20830"/>
          </a:avLst>
        </a:prstGeom>
        <a:solidFill>
          <a:schemeClr val="accent1">
            <a:tint val="50000"/>
            <a:hueOff val="-12059734"/>
            <a:satOff val="24125"/>
            <a:lumOff val="102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75" tIns="41275" rIns="41275" bIns="41275" numCol="1" spcCol="1270" anchor="t" anchorCtr="0">
          <a:noAutofit/>
        </a:bodyPr>
        <a:lstStyle/>
        <a:p>
          <a:pPr lvl="0" algn="r" defTabSz="577850">
            <a:lnSpc>
              <a:spcPct val="90000"/>
            </a:lnSpc>
            <a:spcBef>
              <a:spcPct val="0"/>
            </a:spcBef>
            <a:spcAft>
              <a:spcPct val="35000"/>
            </a:spcAft>
          </a:pPr>
          <a:r>
            <a:rPr lang="en-US" sz="1300" kern="1200" dirty="0" smtClean="0">
              <a:latin typeface="Times New Roman" panose="02020603050405020304" pitchFamily="18" charset="0"/>
              <a:cs typeface="Times New Roman" panose="02020603050405020304" pitchFamily="18" charset="0"/>
            </a:rPr>
            <a:t>In the first phase of my internship, I gained hands-on experience in desktop support and basic networking, troubleshooting issues and assisting with system and network configurations.</a:t>
          </a:r>
          <a:endParaRPr lang="en-US" sz="1300" kern="1200" dirty="0">
            <a:latin typeface="Times New Roman" panose="02020603050405020304" pitchFamily="18" charset="0"/>
            <a:cs typeface="Times New Roman" panose="02020603050405020304" pitchFamily="18" charset="0"/>
          </a:endParaRPr>
        </a:p>
      </dsp:txBody>
      <dsp:txXfrm>
        <a:off x="2669003" y="767810"/>
        <a:ext cx="1206778" cy="2632145"/>
      </dsp:txXfrm>
    </dsp:sp>
    <dsp:sp modelId="{65257024-FAC0-4522-B139-1CC85B547BE8}">
      <dsp:nvSpPr>
        <dsp:cNvPr id="0" name=""/>
        <dsp:cNvSpPr/>
      </dsp:nvSpPr>
      <dsp:spPr>
        <a:xfrm>
          <a:off x="2493763" y="329119"/>
          <a:ext cx="1382018" cy="4386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lvl="0" algn="ctr" defTabSz="977900">
            <a:lnSpc>
              <a:spcPct val="90000"/>
            </a:lnSpc>
            <a:spcBef>
              <a:spcPct val="0"/>
            </a:spcBef>
            <a:spcAft>
              <a:spcPct val="35000"/>
            </a:spcAft>
          </a:pPr>
          <a:r>
            <a:rPr lang="en-US" sz="2200" kern="1200" dirty="0" smtClean="0">
              <a:latin typeface="Times New Roman" panose="02020603050405020304" pitchFamily="18" charset="0"/>
              <a:cs typeface="Times New Roman" panose="02020603050405020304" pitchFamily="18" charset="0"/>
            </a:rPr>
            <a:t>Review 0</a:t>
          </a:r>
          <a:endParaRPr lang="en-US" sz="2200" kern="1200" dirty="0">
            <a:latin typeface="Times New Roman" panose="02020603050405020304" pitchFamily="18" charset="0"/>
            <a:cs typeface="Times New Roman" panose="02020603050405020304" pitchFamily="18" charset="0"/>
          </a:endParaRPr>
        </a:p>
      </dsp:txBody>
      <dsp:txXfrm>
        <a:off x="2493763" y="329119"/>
        <a:ext cx="1382018" cy="438690"/>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2/19/2025</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9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34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2/19/2025</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2/19/2025</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2/19/2025</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2/19/2025</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2/19/2025</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2/19/2025</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2/19/2025</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2/19/2025</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2/19/2025</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2/19/2025</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2/19/2025</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2/19/2025</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spcAft>
                <a:spcPts val="0"/>
              </a:spcAft>
              <a:buClr>
                <a:srgbClr val="17365D"/>
              </a:buClr>
              <a:buSzPts val="1700"/>
            </a:pPr>
            <a:r>
              <a:rPr lang="en-GB" sz="1700" b="1" dirty="0" err="1" smtClean="0">
                <a:solidFill>
                  <a:srgbClr val="17365D"/>
                </a:solidFill>
                <a:latin typeface="Cambria" panose="02040503050406030204" pitchFamily="18" charset="0"/>
                <a:ea typeface="Cambria" panose="02040503050406030204" pitchFamily="18" charset="0"/>
                <a:cs typeface="Verdana"/>
                <a:sym typeface="Verdana"/>
              </a:rPr>
              <a:t>Dr.</a:t>
            </a:r>
            <a:r>
              <a:rPr lang="en-GB" sz="1700" b="1" dirty="0" smtClean="0">
                <a:solidFill>
                  <a:srgbClr val="17365D"/>
                </a:solidFill>
                <a:latin typeface="Cambria" panose="02040503050406030204" pitchFamily="18" charset="0"/>
                <a:ea typeface="Cambria" panose="02040503050406030204" pitchFamily="18" charset="0"/>
                <a:cs typeface="Verdana"/>
                <a:sym typeface="Verdana"/>
              </a:rPr>
              <a:t> </a:t>
            </a:r>
            <a:r>
              <a:rPr lang="en-GB" b="1" dirty="0" err="1" smtClean="0">
                <a:latin typeface="Cambria" panose="02040503050406030204" pitchFamily="18" charset="0"/>
                <a:ea typeface="Cambria" panose="02040503050406030204" pitchFamily="18" charset="0"/>
                <a:cs typeface="Verdana"/>
                <a:sym typeface="Verdana"/>
              </a:rPr>
              <a:t>Riyazulla</a:t>
            </a:r>
            <a:r>
              <a:rPr lang="en-GB" b="1" dirty="0" smtClean="0">
                <a:latin typeface="Cambria" panose="02040503050406030204" pitchFamily="18" charset="0"/>
                <a:ea typeface="Cambria" panose="02040503050406030204" pitchFamily="18" charset="0"/>
                <a:cs typeface="Verdana"/>
                <a:sym typeface="Verdana"/>
              </a:rPr>
              <a:t> </a:t>
            </a:r>
            <a:r>
              <a:rPr lang="en-GB" b="1" dirty="0">
                <a:latin typeface="Cambria" panose="02040503050406030204" pitchFamily="18" charset="0"/>
                <a:ea typeface="Cambria" panose="02040503050406030204" pitchFamily="18" charset="0"/>
                <a:cs typeface="Verdana"/>
                <a:sym typeface="Verdana"/>
              </a:rPr>
              <a:t>Rahman </a:t>
            </a:r>
            <a:r>
              <a:rPr lang="en-GB" b="1" dirty="0" smtClean="0">
                <a:latin typeface="Cambria" panose="02040503050406030204" pitchFamily="18" charset="0"/>
                <a:ea typeface="Cambria" panose="02040503050406030204" pitchFamily="18" charset="0"/>
                <a:cs typeface="Verdana"/>
                <a:sym typeface="Verdana"/>
              </a:rPr>
              <a:t>J</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43530"/>
            <a:ext cx="12249915" cy="1562100"/>
          </a:xfrm>
          <a:prstGeom prst="rect">
            <a:avLst/>
          </a:prstGeom>
          <a:noFill/>
          <a:ln>
            <a:noFill/>
          </a:ln>
        </p:spPr>
        <p:txBody>
          <a:bodyPr spcFirstLastPara="1" wrap="square" lIns="91425" tIns="45700" rIns="91425" bIns="45700" anchor="t" anchorCtr="0">
            <a:noAutofit/>
          </a:bodyPr>
          <a:lstStyle/>
          <a:p>
            <a:pPr>
              <a:spcBef>
                <a:spcPts val="0"/>
              </a:spcBef>
              <a:spcAft>
                <a:spcPts val="0"/>
              </a:spcAft>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smtClean="0">
                <a:latin typeface="Cambria" panose="02040503050406030204" pitchFamily="18" charset="0"/>
                <a:ea typeface="Cambria" panose="02040503050406030204" pitchFamily="18" charset="0"/>
                <a:cs typeface="Verdana"/>
                <a:sym typeface="Verdana"/>
              </a:rPr>
              <a:t>CSE</a:t>
            </a:r>
            <a:endPar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endParaRPr>
          </a:p>
          <a:p>
            <a:pPr>
              <a:spcBef>
                <a:spcPts val="0"/>
              </a:spcBef>
              <a:spcAft>
                <a:spcPts val="0"/>
              </a:spcAft>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smtClean="0">
                <a:latin typeface="Cambria" panose="02040503050406030204" pitchFamily="18" charset="0"/>
                <a:ea typeface="Cambria" panose="02040503050406030204" pitchFamily="18" charset="0"/>
                <a:cs typeface="Verdana"/>
                <a:sym typeface="Verdana"/>
              </a:rPr>
              <a:t>Dr</a:t>
            </a:r>
            <a:r>
              <a:rPr lang="en-US" sz="2000" b="1" dirty="0">
                <a:latin typeface="Cambria" panose="02040503050406030204" pitchFamily="18" charset="0"/>
                <a:ea typeface="Cambria" panose="02040503050406030204" pitchFamily="18" charset="0"/>
                <a:cs typeface="Verdana"/>
                <a:sym typeface="Verdana"/>
              </a:rPr>
              <a:t>. Asif Mohammed </a:t>
            </a:r>
            <a:r>
              <a:rPr lang="en-US" sz="2000" b="1" dirty="0" smtClean="0">
                <a:latin typeface="Cambria" panose="02040503050406030204" pitchFamily="18" charset="0"/>
                <a:ea typeface="Cambria" panose="02040503050406030204" pitchFamily="18" charset="0"/>
                <a:cs typeface="Verdana"/>
                <a:sym typeface="Verdana"/>
              </a:rPr>
              <a:t>H.B</a:t>
            </a:r>
            <a:endParaRPr lang="en-US" sz="2000" b="1" dirty="0" smtClean="0">
              <a:solidFill>
                <a:schemeClr val="accent1"/>
              </a:solidFill>
              <a:latin typeface="Cambria" panose="02040503050406030204" pitchFamily="18" charset="0"/>
              <a:ea typeface="Cambria" panose="02040503050406030204" pitchFamily="18" charset="0"/>
              <a:cs typeface="Verdana"/>
              <a:sym typeface="Verdana"/>
            </a:endParaRPr>
          </a:p>
          <a:p>
            <a:pPr>
              <a:spcBef>
                <a:spcPts val="0"/>
              </a:spcBef>
              <a:spcAft>
                <a:spcPts val="0"/>
              </a:spcAft>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latin typeface="Cambria" panose="02040503050406030204" pitchFamily="18" charset="0"/>
                <a:ea typeface="Cambria" panose="02040503050406030204" pitchFamily="18" charset="0"/>
                <a:cs typeface="Verdana"/>
                <a:sym typeface="Verdana"/>
              </a:rPr>
              <a:t>Mr. </a:t>
            </a:r>
            <a:r>
              <a:rPr lang="en-US" sz="2000" b="1" dirty="0" err="1">
                <a:latin typeface="Cambria" panose="02040503050406030204" pitchFamily="18" charset="0"/>
                <a:ea typeface="Cambria" panose="02040503050406030204" pitchFamily="18" charset="0"/>
                <a:cs typeface="Verdana"/>
                <a:sym typeface="Verdana"/>
              </a:rPr>
              <a:t>Amarnath</a:t>
            </a:r>
            <a:r>
              <a:rPr lang="en-US" sz="2000" b="1" dirty="0">
                <a:latin typeface="Cambria" panose="02040503050406030204" pitchFamily="18" charset="0"/>
                <a:ea typeface="Cambria" panose="02040503050406030204" pitchFamily="18" charset="0"/>
                <a:cs typeface="Verdana"/>
                <a:sym typeface="Verdana"/>
              </a:rPr>
              <a:t> J.L &amp; Dr. </a:t>
            </a:r>
            <a:r>
              <a:rPr lang="en-US" sz="2000" b="1" dirty="0" err="1">
                <a:latin typeface="Cambria" panose="02040503050406030204" pitchFamily="18" charset="0"/>
                <a:ea typeface="Cambria" panose="02040503050406030204" pitchFamily="18" charset="0"/>
                <a:cs typeface="Verdana"/>
                <a:sym typeface="Verdana"/>
              </a:rPr>
              <a:t>Jayanthi</a:t>
            </a: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K</a:t>
            </a:r>
            <a:endPar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School Internship/Project Coordinators: </a:t>
            </a:r>
            <a:r>
              <a:rPr lang="en-US" sz="2000" b="1" dirty="0">
                <a:latin typeface="Cambria" panose="02040503050406030204" pitchFamily="18" charset="0"/>
                <a:ea typeface="Cambria" panose="02040503050406030204" pitchFamily="18" charset="0"/>
                <a:cs typeface="Verdana"/>
                <a:sym typeface="Verdana"/>
              </a:rPr>
              <a:t>Mr. Md Ziaur Rahman </a:t>
            </a:r>
            <a:r>
              <a:rPr lang="en-US" sz="2000" b="1" dirty="0" smtClean="0">
                <a:latin typeface="Cambria" panose="02040503050406030204" pitchFamily="18" charset="0"/>
                <a:ea typeface="Cambria" panose="02040503050406030204" pitchFamily="18" charset="0"/>
                <a:cs typeface="Verdana"/>
                <a:sym typeface="Verdana"/>
              </a:rPr>
              <a:t>/</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Dr</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a:sym typeface="Verdana"/>
              </a:rPr>
              <a:t>. Sampath A K / Dr. Abdul Khadar A</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PIP4004 - INTERNSHIP</a:t>
            </a:r>
            <a:r>
              <a:rPr lang="en-IN" dirty="0" smtClean="0">
                <a:solidFill>
                  <a:srgbClr val="FF0000"/>
                </a:solidFill>
                <a:latin typeface="Times New Roman" panose="02020603050405020304" pitchFamily="18" charset="0"/>
                <a:cs typeface="Times New Roman" panose="02020603050405020304" pitchFamily="18" charset="0"/>
              </a:rPr>
              <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t>Review-1 Presentation </a:t>
            </a:r>
            <a:b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br>
            <a:r>
              <a:rPr lang="en-US" sz="3200" dirty="0" smtClean="0">
                <a:solidFill>
                  <a:srgbClr val="0070C0"/>
                </a:solidFill>
                <a:latin typeface="Times New Roman" panose="02020603050405020304" pitchFamily="18" charset="0"/>
                <a:ea typeface="Tahoma" pitchFamily="34" charset="0"/>
                <a:cs typeface="Times New Roman" panose="02020603050405020304" pitchFamily="18" charset="0"/>
              </a:rPr>
              <a:t>Networking and Desktop end user</a:t>
            </a:r>
            <a:br>
              <a:rPr lang="en-US" sz="3200" dirty="0" smtClean="0">
                <a:solidFill>
                  <a:srgbClr val="0070C0"/>
                </a:solidFill>
                <a:latin typeface="Times New Roman" panose="02020603050405020304" pitchFamily="18" charset="0"/>
                <a:ea typeface="Tahoma" pitchFamily="34"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008573799"/>
              </p:ext>
            </p:extLst>
          </p:nvPr>
        </p:nvGraphicFramePr>
        <p:xfrm>
          <a:off x="548900" y="2213111"/>
          <a:ext cx="5321552" cy="1749288"/>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437322">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437322">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ea typeface="Cambria" panose="02040503050406030204" pitchFamily="18" charset="0"/>
                          <a:cs typeface="Times New Roman" panose="02020603050405020304" pitchFamily="18" charset="0"/>
                        </a:rPr>
                        <a:t>Siri 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437322">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ea typeface="Cambria" panose="02040503050406030204" pitchFamily="18" charset="0"/>
                          <a:cs typeface="Times New Roman" panose="02020603050405020304" pitchFamily="18" charset="0"/>
                        </a:rPr>
                        <a:t>20211CSE0768</a:t>
                      </a:r>
                      <a:endParaRPr lang="en-US" dirty="0">
                        <a:latin typeface="Times New Roman" panose="020206030504050203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437322">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ea typeface="Cambria" panose="02040503050406030204" pitchFamily="18" charset="0"/>
                          <a:cs typeface="Times New Roman" panose="02020603050405020304" pitchFamily="18" charset="0"/>
                        </a:rPr>
                        <a:t>8 CSE-05</a:t>
                      </a:r>
                      <a:endParaRPr lang="en-US" dirty="0">
                        <a:latin typeface="Times New Roman" panose="020206030504050203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90239800"/>
      </p:ext>
    </p:extLst>
  </p:cSld>
  <p:clrMapOvr>
    <a:masterClrMapping/>
  </p:clrMapOvr>
  <p:transition spd="slow">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a:t>
            </a:r>
            <a:r>
              <a:rPr lang="en-US" sz="2000" b="1" dirty="0" smtClean="0">
                <a:solidFill>
                  <a:srgbClr val="0070C0"/>
                </a:solidFill>
                <a:latin typeface="Times New Roman" panose="02020603050405020304" pitchFamily="18" charset="0"/>
                <a:cs typeface="Times New Roman" panose="02020603050405020304" pitchFamily="18" charset="0"/>
              </a:rPr>
              <a:t>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US" sz="2000" b="1" dirty="0" smtClean="0">
                <a:solidFill>
                  <a:schemeClr val="accent1">
                    <a:lumMod val="75000"/>
                  </a:schemeClr>
                </a:solidFill>
                <a:latin typeface="Cambria" panose="02040503050406030204" pitchFamily="18" charset="0"/>
                <a:ea typeface="Cambria" panose="020405030504060302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Proposed System</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Advantages of Proposed System/Work </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34648573"/>
      </p:ext>
    </p:extLst>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About Company or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lstStyle/>
          <a:p>
            <a:pPr algn="just"/>
            <a:r>
              <a:rPr lang="en-US" sz="2400" dirty="0">
                <a:latin typeface="Times New Roman" panose="02020603050405020304" pitchFamily="18" charset="0"/>
                <a:cs typeface="Times New Roman" panose="02020603050405020304" pitchFamily="18" charset="0"/>
              </a:rPr>
              <a:t>Tata </a:t>
            </a:r>
            <a:r>
              <a:rPr lang="en-US" sz="2400" dirty="0" smtClean="0">
                <a:latin typeface="Times New Roman" panose="02020603050405020304" pitchFamily="18" charset="0"/>
                <a:cs typeface="Times New Roman" panose="02020603050405020304" pitchFamily="18" charset="0"/>
              </a:rPr>
              <a:t>Power Renewable Energy </a:t>
            </a:r>
            <a:r>
              <a:rPr lang="en-US" sz="2400" dirty="0">
                <a:latin typeface="Times New Roman" panose="02020603050405020304" pitchFamily="18" charset="0"/>
                <a:cs typeface="Times New Roman" panose="02020603050405020304" pitchFamily="18" charset="0"/>
              </a:rPr>
              <a:t>Limited, formerly Tata BP Solar, is an Indian company that </a:t>
            </a:r>
            <a:r>
              <a:rPr lang="en-US" sz="2400" dirty="0" err="1">
                <a:latin typeface="Times New Roman" panose="02020603050405020304" pitchFamily="18" charset="0"/>
                <a:cs typeface="Times New Roman" panose="02020603050405020304" pitchFamily="18" charset="0"/>
              </a:rPr>
              <a:t>specialises</a:t>
            </a:r>
            <a:r>
              <a:rPr lang="en-US" sz="2400" dirty="0">
                <a:latin typeface="Times New Roman" panose="02020603050405020304" pitchFamily="18" charset="0"/>
                <a:cs typeface="Times New Roman" panose="02020603050405020304" pitchFamily="18" charset="0"/>
              </a:rPr>
              <a:t> in solar energy services. The company manufactures solar modules, solar cells, and other solar products, and provides EPC services for solar power </a:t>
            </a:r>
            <a:r>
              <a:rPr lang="en-US" sz="2400" dirty="0" err="1">
                <a:latin typeface="Times New Roman" panose="02020603050405020304" pitchFamily="18" charset="0"/>
                <a:cs typeface="Times New Roman" panose="02020603050405020304" pitchFamily="18" charset="0"/>
              </a:rPr>
              <a:t>projects.In</a:t>
            </a:r>
            <a:r>
              <a:rPr lang="en-US" sz="2400" dirty="0">
                <a:latin typeface="Times New Roman" panose="02020603050405020304" pitchFamily="18" charset="0"/>
                <a:cs typeface="Times New Roman" panose="02020603050405020304" pitchFamily="18" charset="0"/>
              </a:rPr>
              <a:t> February 2017, Tata Power Solar became the first Indian company to ship over 1 GW solar modules worldwide. The company's manufacturing unit in Bangalore has a production capacity of 400 MW of modules and 300 MW of cells</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Tata Power and BP Solar established Tata BP Solar, a joint venture company, in 1989</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company began commercial operations in 1991 by establishing its first manufacturing unit with a production capacity of 3 </a:t>
            </a:r>
            <a:r>
              <a:rPr lang="en-US" sz="2400" dirty="0" smtClean="0">
                <a:latin typeface="Times New Roman" panose="02020603050405020304" pitchFamily="18" charset="0"/>
                <a:cs typeface="Times New Roman" panose="02020603050405020304" pitchFamily="18" charset="0"/>
              </a:rPr>
              <a:t>MW. BP </a:t>
            </a:r>
            <a:r>
              <a:rPr lang="en-US" sz="2400" dirty="0">
                <a:latin typeface="Times New Roman" panose="02020603050405020304" pitchFamily="18" charset="0"/>
                <a:cs typeface="Times New Roman" panose="02020603050405020304" pitchFamily="18" charset="0"/>
              </a:rPr>
              <a:t>Solar was closed on 21 December 2011, when BP announced its departure from the solar energy </a:t>
            </a:r>
            <a:r>
              <a:rPr lang="en-US" sz="2400" dirty="0" smtClean="0">
                <a:latin typeface="Times New Roman" panose="02020603050405020304" pitchFamily="18" charset="0"/>
                <a:cs typeface="Times New Roman" panose="02020603050405020304" pitchFamily="18" charset="0"/>
              </a:rPr>
              <a:t>business. On </a:t>
            </a:r>
            <a:r>
              <a:rPr lang="en-US" sz="2400" dirty="0">
                <a:latin typeface="Times New Roman" panose="02020603050405020304" pitchFamily="18" charset="0"/>
                <a:cs typeface="Times New Roman" panose="02020603050405020304" pitchFamily="18" charset="0"/>
              </a:rPr>
              <a:t>30 August 2012, Tata BP Solar India Limited was renamed as Tata Power Solar Systems Limited and became a wholly owned subsidiary of the Tata Group</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87895"/>
          </a:xfrm>
        </p:spPr>
        <p:txBody>
          <a:bodyPr/>
          <a:lstStyle/>
          <a:p>
            <a:r>
              <a:rPr lang="en-US" sz="3600" b="1" dirty="0" smtClean="0">
                <a:solidFill>
                  <a:srgbClr val="0070C0"/>
                </a:solidFill>
                <a:latin typeface="Times New Roman" panose="02020603050405020304" pitchFamily="18" charset="0"/>
                <a:cs typeface="Times New Roman" panose="02020603050405020304" pitchFamily="18" charset="0"/>
              </a:rPr>
              <a:t/>
            </a:r>
            <a:br>
              <a:rPr lang="en-US" sz="3600" b="1" dirty="0" smtClean="0">
                <a:solidFill>
                  <a:srgbClr val="0070C0"/>
                </a:solidFill>
                <a:latin typeface="Times New Roman" panose="02020603050405020304" pitchFamily="18" charset="0"/>
                <a:cs typeface="Times New Roman" panose="02020603050405020304" pitchFamily="18" charset="0"/>
              </a:rPr>
            </a:br>
            <a:r>
              <a:rPr lang="en-US" sz="3200" b="1" dirty="0" smtClean="0">
                <a:solidFill>
                  <a:srgbClr val="0070C0"/>
                </a:solidFill>
                <a:latin typeface="Times New Roman" panose="02020603050405020304" pitchFamily="18" charset="0"/>
                <a:cs typeface="Times New Roman" panose="02020603050405020304" pitchFamily="18" charset="0"/>
              </a:rPr>
              <a:t>About </a:t>
            </a:r>
            <a:r>
              <a:rPr lang="en-US" sz="3200" b="1" dirty="0">
                <a:solidFill>
                  <a:srgbClr val="0070C0"/>
                </a:solidFill>
                <a:latin typeface="Times New Roman" panose="02020603050405020304" pitchFamily="18" charset="0"/>
                <a:cs typeface="Times New Roman" panose="02020603050405020304" pitchFamily="18" charset="0"/>
              </a:rPr>
              <a:t>Company or Organization</a:t>
            </a:r>
            <a:endParaRPr lang="en-US" sz="3200" dirty="0"/>
          </a:p>
        </p:txBody>
      </p:sp>
      <p:sp>
        <p:nvSpPr>
          <p:cNvPr id="3" name="Content Placeholder 2"/>
          <p:cNvSpPr>
            <a:spLocks noGrp="1"/>
          </p:cNvSpPr>
          <p:nvPr>
            <p:ph idx="1"/>
          </p:nvPr>
        </p:nvSpPr>
        <p:spPr>
          <a:xfrm>
            <a:off x="838200" y="781878"/>
            <a:ext cx="10515600" cy="5395085"/>
          </a:xfrm>
        </p:spPr>
        <p:txBody>
          <a:bodyPr/>
          <a:lstStyle/>
          <a:p>
            <a:endParaRPr lang="en-US" dirty="0" smtClean="0"/>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August 2016, Tata Power Solar commissioned a 100 MW solar project at the NP </a:t>
            </a:r>
            <a:r>
              <a:rPr lang="en-US" sz="2400" dirty="0" err="1">
                <a:latin typeface="Times New Roman" panose="02020603050405020304" pitchFamily="18" charset="0"/>
                <a:cs typeface="Times New Roman" panose="02020603050405020304" pitchFamily="18" charset="0"/>
              </a:rPr>
              <a:t>Kunta</a:t>
            </a:r>
            <a:r>
              <a:rPr lang="en-US" sz="2400" dirty="0">
                <a:latin typeface="Times New Roman" panose="02020603050405020304" pitchFamily="18" charset="0"/>
                <a:cs typeface="Times New Roman" panose="02020603050405020304" pitchFamily="18" charset="0"/>
              </a:rPr>
              <a:t> Ultra Mega Solar Power Project in </a:t>
            </a:r>
            <a:r>
              <a:rPr lang="en-US" sz="2400" dirty="0" err="1">
                <a:latin typeface="Times New Roman" panose="02020603050405020304" pitchFamily="18" charset="0"/>
                <a:cs typeface="Times New Roman" panose="02020603050405020304" pitchFamily="18" charset="0"/>
              </a:rPr>
              <a:t>Anantapur</a:t>
            </a:r>
            <a:r>
              <a:rPr lang="en-US" sz="2400" dirty="0">
                <a:latin typeface="Times New Roman" panose="02020603050405020304" pitchFamily="18" charset="0"/>
                <a:cs typeface="Times New Roman" panose="02020603050405020304" pitchFamily="18" charset="0"/>
              </a:rPr>
              <a:t>, Andhra Pradesh. This was the largest solar project commissioned using domestically manufactured solar cells and modules at the time</a:t>
            </a:r>
            <a:r>
              <a:rPr lang="en-US" sz="2400" dirty="0" smtClean="0">
                <a:latin typeface="Times New Roman" panose="02020603050405020304" pitchFamily="18" charset="0"/>
                <a:cs typeface="Times New Roman" panose="02020603050405020304" pitchFamily="18" charset="0"/>
              </a:rPr>
              <a:t>.</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2022, Tata Power Solar raised 4,000 crore from Tata Power and a consortium of investors led by BlackRock, which also includes the </a:t>
            </a:r>
            <a:r>
              <a:rPr lang="en-US" sz="2400" dirty="0" err="1">
                <a:latin typeface="Times New Roman" panose="02020603050405020304" pitchFamily="18" charset="0"/>
                <a:cs typeface="Times New Roman" panose="02020603050405020304" pitchFamily="18" charset="0"/>
              </a:rPr>
              <a:t>Mubadala</a:t>
            </a:r>
            <a:r>
              <a:rPr lang="en-US" sz="2400" dirty="0">
                <a:latin typeface="Times New Roman" panose="02020603050405020304" pitchFamily="18" charset="0"/>
                <a:cs typeface="Times New Roman" panose="02020603050405020304" pitchFamily="18" charset="0"/>
              </a:rPr>
              <a:t> Investment Company</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4222454939"/>
      </p:ext>
    </p:extLst>
  </p:cSld>
  <p:clrMapOvr>
    <a:masterClrMapping/>
  </p:clrMapOvr>
  <p:transition spd="slow">
    <p:blinds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531"/>
            <a:ext cx="10515600" cy="1046922"/>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US" sz="3200" dirty="0"/>
          </a:p>
        </p:txBody>
      </p:sp>
      <p:sp>
        <p:nvSpPr>
          <p:cNvPr id="3" name="Content Placeholder 2"/>
          <p:cNvSpPr>
            <a:spLocks noGrp="1"/>
          </p:cNvSpPr>
          <p:nvPr>
            <p:ph idx="1"/>
          </p:nvPr>
        </p:nvSpPr>
        <p:spPr>
          <a:xfrm>
            <a:off x="838200" y="1020417"/>
            <a:ext cx="10515600" cy="5156546"/>
          </a:xfrm>
        </p:spPr>
        <p:txBody>
          <a:bodyPr/>
          <a:lstStyle/>
          <a:p>
            <a:pPr marL="0" indent="0" algn="just">
              <a:buNone/>
            </a:pPr>
            <a:r>
              <a:rPr lang="en-US" sz="2400" dirty="0" smtClean="0">
                <a:latin typeface="Times New Roman" panose="02020603050405020304" pitchFamily="18" charset="0"/>
                <a:cs typeface="Times New Roman" panose="02020603050405020304" pitchFamily="18" charset="0"/>
              </a:rPr>
              <a:t>Manufacturing Plant and Warehouse</a:t>
            </a:r>
          </a:p>
          <a:p>
            <a:pPr algn="just"/>
            <a:r>
              <a:rPr lang="en-US" sz="2400" dirty="0" smtClean="0">
                <a:latin typeface="Times New Roman" panose="02020603050405020304" pitchFamily="18" charset="0"/>
                <a:cs typeface="Times New Roman" panose="02020603050405020304" pitchFamily="18" charset="0"/>
              </a:rPr>
              <a:t>There are 3 manufacturing plants in India-Two </a:t>
            </a:r>
            <a:r>
              <a:rPr lang="en-US" sz="2400" dirty="0">
                <a:latin typeface="Times New Roman" panose="02020603050405020304" pitchFamily="18" charset="0"/>
                <a:cs typeface="Times New Roman" panose="02020603050405020304" pitchFamily="18" charset="0"/>
              </a:rPr>
              <a:t>in </a:t>
            </a:r>
            <a:r>
              <a:rPr lang="en-US" sz="2400" dirty="0" smtClean="0">
                <a:latin typeface="Times New Roman" panose="02020603050405020304" pitchFamily="18" charset="0"/>
                <a:cs typeface="Times New Roman" panose="02020603050405020304" pitchFamily="18" charset="0"/>
              </a:rPr>
              <a:t>Bangalore, One </a:t>
            </a:r>
            <a:r>
              <a:rPr lang="en-US" sz="2400" dirty="0">
                <a:latin typeface="Times New Roman" panose="02020603050405020304" pitchFamily="18" charset="0"/>
                <a:cs typeface="Times New Roman" panose="02020603050405020304" pitchFamily="18" charset="0"/>
              </a:rPr>
              <a:t>in Tirunelveli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One warehouse in Bangalore</a:t>
            </a:r>
          </a:p>
          <a:p>
            <a:pPr marL="0" indent="0" algn="just">
              <a:buNone/>
            </a:pPr>
            <a:r>
              <a:rPr lang="en-US" sz="2400" dirty="0" smtClean="0">
                <a:latin typeface="Times New Roman" panose="02020603050405020304" pitchFamily="18" charset="0"/>
                <a:cs typeface="Times New Roman" panose="02020603050405020304" pitchFamily="18" charset="0"/>
              </a:rPr>
              <a:t>Tata </a:t>
            </a:r>
            <a:r>
              <a:rPr lang="en-US" sz="2400" dirty="0">
                <a:latin typeface="Times New Roman" panose="02020603050405020304" pitchFamily="18" charset="0"/>
                <a:cs typeface="Times New Roman" panose="02020603050405020304" pitchFamily="18" charset="0"/>
              </a:rPr>
              <a:t>Power Renewable Energy Limited </a:t>
            </a:r>
            <a:r>
              <a:rPr lang="en-US" sz="2400" dirty="0" smtClean="0">
                <a:latin typeface="Times New Roman" panose="02020603050405020304" pitchFamily="18" charset="0"/>
                <a:cs typeface="Times New Roman" panose="02020603050405020304" pitchFamily="18" charset="0"/>
              </a:rPr>
              <a:t>have office </a:t>
            </a:r>
            <a:r>
              <a:rPr lang="en-US" sz="2400" dirty="0">
                <a:latin typeface="Times New Roman" panose="02020603050405020304" pitchFamily="18" charset="0"/>
                <a:cs typeface="Times New Roman" panose="02020603050405020304" pitchFamily="18" charset="0"/>
              </a:rPr>
              <a:t>and many sites </a:t>
            </a:r>
            <a:r>
              <a:rPr lang="en-US" sz="2400" dirty="0" err="1">
                <a:latin typeface="Times New Roman" panose="02020603050405020304" pitchFamily="18" charset="0"/>
                <a:cs typeface="Times New Roman" panose="02020603050405020304" pitchFamily="18" charset="0"/>
              </a:rPr>
              <a:t>acorss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India</a:t>
            </a:r>
          </a:p>
          <a:p>
            <a:pPr algn="just"/>
            <a:r>
              <a:rPr lang="fr-FR" sz="2400" dirty="0" smtClean="0">
                <a:latin typeface="Times New Roman" panose="02020603050405020304" pitchFamily="18" charset="0"/>
                <a:cs typeface="Times New Roman" panose="02020603050405020304" pitchFamily="18" charset="0"/>
              </a:rPr>
              <a:t>Bangalore-Karnataka</a:t>
            </a:r>
            <a:endParaRPr lang="en-US" sz="2400" dirty="0">
              <a:latin typeface="Times New Roman" panose="02020603050405020304" pitchFamily="18" charset="0"/>
              <a:cs typeface="Times New Roman" panose="02020603050405020304" pitchFamily="18" charset="0"/>
            </a:endParaRPr>
          </a:p>
          <a:p>
            <a:pPr algn="just"/>
            <a:r>
              <a:rPr lang="en-US" sz="2400" dirty="0" err="1" smtClean="0">
                <a:latin typeface="Times New Roman" panose="02020603050405020304" pitchFamily="18" charset="0"/>
                <a:cs typeface="Times New Roman" panose="02020603050405020304" pitchFamily="18" charset="0"/>
              </a:rPr>
              <a:t>Pavagada</a:t>
            </a:r>
            <a:r>
              <a:rPr lang="en-US" sz="2400" dirty="0" smtClean="0">
                <a:latin typeface="Times New Roman" panose="02020603050405020304" pitchFamily="18" charset="0"/>
                <a:cs typeface="Times New Roman" panose="02020603050405020304" pitchFamily="18" charset="0"/>
              </a:rPr>
              <a:t>-Karnataka</a:t>
            </a:r>
          </a:p>
          <a:p>
            <a:pPr algn="just"/>
            <a:r>
              <a:rPr lang="en-US" sz="2400" dirty="0" smtClean="0">
                <a:latin typeface="Times New Roman" panose="02020603050405020304" pitchFamily="18" charset="0"/>
                <a:cs typeface="Times New Roman" panose="02020603050405020304" pitchFamily="18" charset="0"/>
              </a:rPr>
              <a:t>Noida-Uttar Pradesh</a:t>
            </a:r>
          </a:p>
          <a:p>
            <a:pPr algn="just"/>
            <a:r>
              <a:rPr lang="en-US" sz="2400" dirty="0" smtClean="0">
                <a:latin typeface="Times New Roman" panose="02020603050405020304" pitchFamily="18" charset="0"/>
                <a:cs typeface="Times New Roman" panose="02020603050405020304" pitchFamily="18" charset="0"/>
              </a:rPr>
              <a:t>Bikaner-Rajasthan</a:t>
            </a:r>
          </a:p>
          <a:p>
            <a:pPr algn="just"/>
            <a:r>
              <a:rPr lang="en-US" sz="2400" dirty="0" smtClean="0">
                <a:latin typeface="Times New Roman" panose="02020603050405020304" pitchFamily="18" charset="0"/>
                <a:cs typeface="Times New Roman" panose="02020603050405020304" pitchFamily="18" charset="0"/>
              </a:rPr>
              <a:t>Gujarat</a:t>
            </a:r>
          </a:p>
          <a:p>
            <a:pPr algn="just"/>
            <a:r>
              <a:rPr lang="en-US" sz="2400" dirty="0" smtClean="0">
                <a:latin typeface="Times New Roman" panose="02020603050405020304" pitchFamily="18" charset="0"/>
                <a:cs typeface="Times New Roman" panose="02020603050405020304" pitchFamily="18" charset="0"/>
              </a:rPr>
              <a:t>Mumbai</a:t>
            </a:r>
          </a:p>
          <a:p>
            <a:pPr marL="0" indent="0">
              <a:buNone/>
            </a:pPr>
            <a:endParaRPr lang="en-US" sz="24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602782548"/>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lgn="just">
              <a:buNone/>
            </a:pPr>
            <a:r>
              <a:rPr lang="en-IN" b="1" u="sng" dirty="0" smtClean="0">
                <a:latin typeface="Times New Roman" panose="02020603050405020304" pitchFamily="18" charset="0"/>
                <a:cs typeface="Times New Roman" panose="02020603050405020304" pitchFamily="18" charset="0"/>
              </a:rPr>
              <a:t>Working Domain</a:t>
            </a:r>
          </a:p>
          <a:p>
            <a:pPr marL="0" indent="0" algn="just">
              <a:buNone/>
            </a:pPr>
            <a:r>
              <a:rPr lang="en-IN" b="1" dirty="0" smtClean="0">
                <a:latin typeface="Times New Roman" panose="02020603050405020304" pitchFamily="18" charset="0"/>
                <a:cs typeface="Times New Roman" panose="02020603050405020304" pitchFamily="18" charset="0"/>
              </a:rPr>
              <a:t>Networking and Desktop </a:t>
            </a:r>
            <a:r>
              <a:rPr lang="en-IN" b="1" dirty="0">
                <a:latin typeface="Times New Roman" panose="02020603050405020304" pitchFamily="18" charset="0"/>
                <a:cs typeface="Times New Roman" panose="02020603050405020304" pitchFamily="18" charset="0"/>
              </a:rPr>
              <a:t>e</a:t>
            </a:r>
            <a:r>
              <a:rPr lang="en-IN" b="1" dirty="0" smtClean="0">
                <a:latin typeface="Times New Roman" panose="02020603050405020304" pitchFamily="18" charset="0"/>
                <a:cs typeface="Times New Roman" panose="02020603050405020304" pitchFamily="18" charset="0"/>
              </a:rPr>
              <a:t>nd user</a:t>
            </a:r>
          </a:p>
          <a:p>
            <a:pPr algn="just"/>
            <a:r>
              <a:rPr lang="en-US" b="1" dirty="0" smtClean="0">
                <a:latin typeface="Times New Roman" panose="02020603050405020304" pitchFamily="18" charset="0"/>
                <a:cs typeface="Times New Roman" panose="02020603050405020304" pitchFamily="18" charset="0"/>
              </a:rPr>
              <a:t>Networking</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a:t>
            </a:r>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to describe the range or area where certain networking rules or services apply, ensuring effective communication or management of resources</a:t>
            </a:r>
            <a:r>
              <a:rPr lang="en-US" dirty="0" smtClean="0">
                <a:latin typeface="Times New Roman" panose="02020603050405020304" pitchFamily="18" charset="0"/>
                <a:cs typeface="Times New Roman" panose="02020603050405020304" pitchFamily="18" charset="0"/>
              </a:rPr>
              <a:t>.</a:t>
            </a:r>
          </a:p>
          <a:p>
            <a:pPr algn="just"/>
            <a:r>
              <a:rPr lang="en-US" b="1" dirty="0" smtClean="0">
                <a:latin typeface="Times New Roman" panose="02020603050405020304" pitchFamily="18" charset="0"/>
                <a:cs typeface="Times New Roman" panose="02020603050405020304" pitchFamily="18" charset="0"/>
              </a:rPr>
              <a:t>Desktop </a:t>
            </a:r>
            <a:r>
              <a:rPr lang="en-US" b="1" dirty="0">
                <a:latin typeface="Times New Roman" panose="02020603050405020304" pitchFamily="18" charset="0"/>
                <a:cs typeface="Times New Roman" panose="02020603050405020304" pitchFamily="18" charset="0"/>
              </a:rPr>
              <a:t>end </a:t>
            </a:r>
            <a:r>
              <a:rPr lang="en-US" b="1" dirty="0" smtClean="0">
                <a:latin typeface="Times New Roman" panose="02020603050405020304" pitchFamily="18" charset="0"/>
                <a:cs typeface="Times New Roman" panose="02020603050405020304" pitchFamily="18" charset="0"/>
              </a:rPr>
              <a:t>user </a:t>
            </a:r>
            <a:r>
              <a:rPr lang="en-US" dirty="0" smtClean="0">
                <a:latin typeface="Times New Roman" panose="02020603050405020304" pitchFamily="18" charset="0"/>
                <a:cs typeface="Times New Roman" panose="02020603050405020304" pitchFamily="18" charset="0"/>
              </a:rPr>
              <a:t>controls </a:t>
            </a:r>
            <a:r>
              <a:rPr lang="en-US" dirty="0">
                <a:latin typeface="Times New Roman" panose="02020603050405020304" pitchFamily="18" charset="0"/>
                <a:cs typeface="Times New Roman" panose="02020603050405020304" pitchFamily="18" charset="0"/>
              </a:rPr>
              <a:t>environment where their device, identity, and access permissions are managed within a larger network infrastructure, usually to provide both security and ease of management.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03887700"/>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66190"/>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About </a:t>
            </a:r>
            <a:r>
              <a:rPr lang="en-IN" sz="3200" b="1" dirty="0">
                <a:solidFill>
                  <a:schemeClr val="accent1">
                    <a:lumMod val="75000"/>
                  </a:schemeClr>
                </a:solidFill>
                <a:latin typeface="Times New Roman" panose="02020603050405020304" pitchFamily="18" charset="0"/>
                <a:cs typeface="Times New Roman" panose="02020603050405020304" pitchFamily="18" charset="0"/>
              </a:rPr>
              <a:t>your team and reporting Manager</a:t>
            </a:r>
            <a:endParaRPr lang="en-US" sz="3200" dirty="0"/>
          </a:p>
        </p:txBody>
      </p:sp>
      <p:sp>
        <p:nvSpPr>
          <p:cNvPr id="3" name="Content Placeholder 2"/>
          <p:cNvSpPr>
            <a:spLocks noGrp="1"/>
          </p:cNvSpPr>
          <p:nvPr>
            <p:ph idx="1"/>
          </p:nvPr>
        </p:nvSpPr>
        <p:spPr>
          <a:xfrm>
            <a:off x="838200" y="927652"/>
            <a:ext cx="10515600" cy="5428697"/>
          </a:xfrm>
        </p:spPr>
        <p:txBody>
          <a:bodyPr/>
          <a:lstStyle/>
          <a:p>
            <a:pPr algn="just"/>
            <a:r>
              <a:rPr lang="en-US" dirty="0" smtClean="0">
                <a:latin typeface="Times New Roman" panose="02020603050405020304" pitchFamily="18" charset="0"/>
                <a:cs typeface="Times New Roman" panose="02020603050405020304" pitchFamily="18" charset="0"/>
              </a:rPr>
              <a:t>During </a:t>
            </a:r>
            <a:r>
              <a:rPr lang="en-US" dirty="0">
                <a:latin typeface="Times New Roman" panose="02020603050405020304" pitchFamily="18" charset="0"/>
                <a:cs typeface="Times New Roman" panose="02020603050405020304" pitchFamily="18" charset="0"/>
              </a:rPr>
              <a:t>my internship at </a:t>
            </a:r>
            <a:r>
              <a:rPr lang="en-US" dirty="0" smtClean="0">
                <a:latin typeface="Times New Roman" panose="02020603050405020304" pitchFamily="18" charset="0"/>
                <a:cs typeface="Times New Roman" panose="02020603050405020304" pitchFamily="18" charset="0"/>
              </a:rPr>
              <a:t>Tata Power Renewable Energy Limited, </a:t>
            </a:r>
            <a:r>
              <a:rPr lang="en-US" dirty="0">
                <a:latin typeface="Times New Roman" panose="02020603050405020304" pitchFamily="18" charset="0"/>
                <a:cs typeface="Times New Roman" panose="02020603050405020304" pitchFamily="18" charset="0"/>
              </a:rPr>
              <a:t>I had the opportunity to work as part of a </a:t>
            </a:r>
            <a:r>
              <a:rPr lang="en-US" dirty="0" smtClean="0">
                <a:latin typeface="Times New Roman" panose="02020603050405020304" pitchFamily="18" charset="0"/>
                <a:cs typeface="Times New Roman" panose="02020603050405020304" pitchFamily="18" charset="0"/>
              </a:rPr>
              <a:t>Networking and Desktop end user team </a:t>
            </a:r>
            <a:r>
              <a:rPr lang="en-US" dirty="0">
                <a:latin typeface="Times New Roman" panose="02020603050405020304" pitchFamily="18" charset="0"/>
                <a:cs typeface="Times New Roman" panose="02020603050405020304" pitchFamily="18" charset="0"/>
              </a:rPr>
              <a:t>responsible for improving </a:t>
            </a:r>
            <a:r>
              <a:rPr lang="en-US" dirty="0" smtClean="0">
                <a:latin typeface="Times New Roman" panose="02020603050405020304" pitchFamily="18" charset="0"/>
                <a:cs typeface="Times New Roman" panose="02020603050405020304" pitchFamily="18" charset="0"/>
              </a:rPr>
              <a:t>to interact </a:t>
            </a:r>
            <a:r>
              <a:rPr lang="en-US" dirty="0">
                <a:latin typeface="Times New Roman" panose="02020603050405020304" pitchFamily="18" charset="0"/>
                <a:cs typeface="Times New Roman" panose="02020603050405020304" pitchFamily="18" charset="0"/>
              </a:rPr>
              <a:t>and manage desktop computers, ensuring efficient use of software, hardware, and network resources to complete tasks and support </a:t>
            </a:r>
            <a:r>
              <a:rPr lang="en-US" dirty="0" smtClean="0">
                <a:latin typeface="Times New Roman" panose="02020603050405020304" pitchFamily="18" charset="0"/>
                <a:cs typeface="Times New Roman" panose="02020603050405020304" pitchFamily="18" charset="0"/>
              </a:rPr>
              <a:t>productivity. </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team consisted of </a:t>
            </a:r>
            <a:r>
              <a:rPr lang="en-US" dirty="0" smtClean="0">
                <a:latin typeface="Times New Roman" panose="02020603050405020304" pitchFamily="18" charset="0"/>
                <a:cs typeface="Times New Roman" panose="02020603050405020304" pitchFamily="18" charset="0"/>
              </a:rPr>
              <a:t>ten </a:t>
            </a:r>
            <a:r>
              <a:rPr lang="en-US" dirty="0">
                <a:latin typeface="Times New Roman" panose="02020603050405020304" pitchFamily="18" charset="0"/>
                <a:cs typeface="Times New Roman" panose="02020603050405020304" pitchFamily="18" charset="0"/>
              </a:rPr>
              <a:t>members, including a project </a:t>
            </a:r>
            <a:r>
              <a:rPr lang="en-US" dirty="0" smtClean="0">
                <a:latin typeface="Times New Roman" panose="02020603050405020304" pitchFamily="18" charset="0"/>
                <a:cs typeface="Times New Roman" panose="02020603050405020304" pitchFamily="18" charset="0"/>
              </a:rPr>
              <a:t>manager, team leader, desktop end users, and </a:t>
            </a:r>
            <a:r>
              <a:rPr lang="en-US" dirty="0">
                <a:latin typeface="Times New Roman" panose="02020603050405020304" pitchFamily="18" charset="0"/>
                <a:cs typeface="Times New Roman" panose="02020603050405020304" pitchFamily="18" charset="0"/>
              </a:rPr>
              <a:t>myself as an </a:t>
            </a:r>
            <a:r>
              <a:rPr lang="en-US" dirty="0" smtClean="0">
                <a:latin typeface="Times New Roman" panose="02020603050405020304" pitchFamily="18" charset="0"/>
                <a:cs typeface="Times New Roman" panose="02020603050405020304" pitchFamily="18" charset="0"/>
              </a:rPr>
              <a:t>intern.</a:t>
            </a:r>
          </a:p>
          <a:p>
            <a:pPr marL="0" indent="0" algn="just">
              <a:buNone/>
            </a:pPr>
            <a:r>
              <a:rPr lang="en-US" b="1" dirty="0" smtClean="0">
                <a:latin typeface="Times New Roman" panose="02020603050405020304" pitchFamily="18" charset="0"/>
                <a:cs typeface="Times New Roman" panose="02020603050405020304" pitchFamily="18" charset="0"/>
              </a:rPr>
              <a:t>   </a:t>
            </a:r>
            <a:r>
              <a:rPr lang="en-US" b="1" u="sng" dirty="0" smtClean="0">
                <a:latin typeface="Times New Roman" panose="02020603050405020304" pitchFamily="18" charset="0"/>
                <a:cs typeface="Times New Roman" panose="02020603050405020304" pitchFamily="18" charset="0"/>
              </a:rPr>
              <a:t>Reporting Manager</a:t>
            </a:r>
          </a:p>
          <a:p>
            <a:pPr marL="0" indent="0" algn="just">
              <a:buNone/>
            </a:pPr>
            <a:r>
              <a:rPr lang="en-US" b="1" dirty="0" smtClean="0">
                <a:latin typeface="Times New Roman" panose="02020603050405020304" pitchFamily="18" charset="0"/>
                <a:cs typeface="Times New Roman" panose="02020603050405020304" pitchFamily="18" charset="0"/>
              </a:rPr>
              <a:t>   Mr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Paresh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Onsker</a:t>
            </a:r>
            <a:r>
              <a:rPr lang="en-US" dirty="0">
                <a:latin typeface="Times New Roman" panose="02020603050405020304" pitchFamily="18" charset="0"/>
                <a:cs typeface="Times New Roman" panose="02020603050405020304" pitchFamily="18" charset="0"/>
              </a:rPr>
              <a:t>, Group Head — Infra and </a:t>
            </a:r>
            <a:r>
              <a:rPr lang="en-US" dirty="0" err="1">
                <a:latin typeface="Times New Roman" panose="02020603050405020304" pitchFamily="18" charset="0"/>
                <a:cs typeface="Times New Roman" panose="02020603050405020304" pitchFamily="18" charset="0"/>
              </a:rPr>
              <a:t>Infosec</a:t>
            </a:r>
            <a:r>
              <a:rPr lang="en-US" dirty="0">
                <a:latin typeface="Times New Roman" panose="02020603050405020304" pitchFamily="18" charset="0"/>
                <a:cs typeface="Times New Roman" panose="02020603050405020304" pitchFamily="18" charset="0"/>
              </a:rPr>
              <a:t> (Renewables) </a:t>
            </a: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416869998"/>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12443"/>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5" name="Rectangle 1"/>
          <p:cNvSpPr>
            <a:spLocks noGrp="1" noChangeArrowheads="1"/>
          </p:cNvSpPr>
          <p:nvPr>
            <p:ph idx="1"/>
          </p:nvPr>
        </p:nvSpPr>
        <p:spPr bwMode="auto">
          <a:xfrm>
            <a:off x="838200" y="997110"/>
            <a:ext cx="1135380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Challenge in identifying the right opportunities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Struggled to find internship opportunities that matched my skills and interests.</a:t>
            </a:r>
          </a:p>
          <a:p>
            <a:pPr algn="just">
              <a:lnSpc>
                <a:spcPct val="100000"/>
              </a:lnSpc>
              <a:spcBef>
                <a:spcPct val="0"/>
              </a:spcBef>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Difficulty in articulating knowledge during interviews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Found it stressful to clearly communicate my knowledge and expertise.</a:t>
            </a:r>
          </a:p>
          <a:p>
            <a:pPr algn="just">
              <a:lnSpc>
                <a:spcPct val="100000"/>
              </a:lnSpc>
              <a:spcBef>
                <a:spcPct val="0"/>
              </a:spcBef>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Adjusting to team’s working style and fast-paced environment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Initially overwhelmed by the team's dynamics and the fast pace of work.</a:t>
            </a:r>
          </a:p>
          <a:p>
            <a:pPr algn="just">
              <a:lnSpc>
                <a:spcPct val="100000"/>
              </a:lnSpc>
              <a:spcBef>
                <a:spcPct val="0"/>
              </a:spcBef>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Learning new software and tools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Faced challenges in adapting to the software and tools commonly used by the team.</a:t>
            </a:r>
          </a:p>
          <a:p>
            <a:pPr algn="just">
              <a:lnSpc>
                <a:spcPct val="100000"/>
              </a:lnSpc>
              <a:spcBef>
                <a:spcPct val="0"/>
              </a:spcBef>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Overcoming challenges with support and effort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With guidance from the team and consistent effort, I became more comfortable and started contributing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6842332"/>
      </p:ext>
    </p:extLst>
  </p:cSld>
  <p:clrMapOvr>
    <a:masterClrMapping/>
  </p:clrMapOvr>
  <p:transition spd="slow">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algn="just"/>
            <a:r>
              <a:rPr lang="en-US" sz="2400" b="1" dirty="0" smtClean="0">
                <a:latin typeface="Times New Roman" panose="02020603050405020304" pitchFamily="18" charset="0"/>
                <a:cs typeface="Times New Roman" panose="02020603050405020304" pitchFamily="18" charset="0"/>
              </a:rPr>
              <a:t>Technical Support </a:t>
            </a:r>
            <a:r>
              <a:rPr lang="en-US" sz="2400" b="1" dirty="0">
                <a:latin typeface="Times New Roman" panose="02020603050405020304" pitchFamily="18" charset="0"/>
                <a:cs typeface="Times New Roman" panose="02020603050405020304" pitchFamily="18" charset="0"/>
              </a:rPr>
              <a:t>&amp; </a:t>
            </a:r>
            <a:r>
              <a:rPr lang="en-US" sz="2400" b="1" dirty="0" smtClean="0">
                <a:latin typeface="Times New Roman" panose="02020603050405020304" pitchFamily="18" charset="0"/>
                <a:cs typeface="Times New Roman" panose="02020603050405020304" pitchFamily="18" charset="0"/>
              </a:rPr>
              <a:t>Troubleshooting</a:t>
            </a:r>
            <a:r>
              <a:rPr lang="en-US" sz="2400" dirty="0" smtClean="0">
                <a:latin typeface="Times New Roman" panose="02020603050405020304" pitchFamily="18" charset="0"/>
                <a:cs typeface="Times New Roman" panose="02020603050405020304" pitchFamily="18" charset="0"/>
              </a:rPr>
              <a:t>: Assist </a:t>
            </a:r>
            <a:r>
              <a:rPr lang="en-US" sz="2400" dirty="0">
                <a:latin typeface="Times New Roman" panose="02020603050405020304" pitchFamily="18" charset="0"/>
                <a:cs typeface="Times New Roman" panose="02020603050405020304" pitchFamily="18" charset="0"/>
              </a:rPr>
              <a:t>desktop end users with troubleshooting hardware and software issues, ensuring systems run </a:t>
            </a:r>
            <a:r>
              <a:rPr lang="en-US" sz="2400" dirty="0" smtClean="0">
                <a:latin typeface="Times New Roman" panose="02020603050405020304" pitchFamily="18" charset="0"/>
                <a:cs typeface="Times New Roman" panose="02020603050405020304" pitchFamily="18" charset="0"/>
              </a:rPr>
              <a:t>smoothly.</a:t>
            </a:r>
          </a:p>
          <a:p>
            <a:pPr algn="just"/>
            <a:r>
              <a:rPr lang="en-US" sz="2400" b="1" dirty="0" smtClean="0">
                <a:latin typeface="Times New Roman" panose="02020603050405020304" pitchFamily="18" charset="0"/>
                <a:cs typeface="Times New Roman" panose="02020603050405020304" pitchFamily="18" charset="0"/>
              </a:rPr>
              <a:t>Network </a:t>
            </a:r>
            <a:r>
              <a:rPr lang="en-US" sz="2400" b="1" dirty="0">
                <a:latin typeface="Times New Roman" panose="02020603050405020304" pitchFamily="18" charset="0"/>
                <a:cs typeface="Times New Roman" panose="02020603050405020304" pitchFamily="18" charset="0"/>
              </a:rPr>
              <a:t>Configuration &amp; </a:t>
            </a:r>
            <a:r>
              <a:rPr lang="en-US" sz="2400" b="1" dirty="0" smtClean="0">
                <a:latin typeface="Times New Roman" panose="02020603050405020304" pitchFamily="18" charset="0"/>
                <a:cs typeface="Times New Roman" panose="02020603050405020304" pitchFamily="18" charset="0"/>
              </a:rPr>
              <a:t>Maintenance</a:t>
            </a:r>
            <a:r>
              <a:rPr lang="en-US" sz="2400" dirty="0" smtClean="0">
                <a:latin typeface="Times New Roman" panose="02020603050405020304" pitchFamily="18" charset="0"/>
                <a:cs typeface="Times New Roman" panose="02020603050405020304" pitchFamily="18" charset="0"/>
              </a:rPr>
              <a:t>: Support </a:t>
            </a:r>
            <a:r>
              <a:rPr lang="en-US" sz="2400" dirty="0">
                <a:latin typeface="Times New Roman" panose="02020603050405020304" pitchFamily="18" charset="0"/>
                <a:cs typeface="Times New Roman" panose="02020603050405020304" pitchFamily="18" charset="0"/>
              </a:rPr>
              <a:t>the configuration and maintenance of network systems, including troubleshooting connectivity issues and ensuring network security.	</a:t>
            </a: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System Optimization</a:t>
            </a:r>
            <a:r>
              <a:rPr lang="en-US" sz="2400" dirty="0" smtClean="0">
                <a:latin typeface="Times New Roman" panose="02020603050405020304" pitchFamily="18" charset="0"/>
                <a:cs typeface="Times New Roman" panose="02020603050405020304" pitchFamily="18" charset="0"/>
              </a:rPr>
              <a:t>: Improve </a:t>
            </a:r>
            <a:r>
              <a:rPr lang="en-US" sz="2400" dirty="0">
                <a:latin typeface="Times New Roman" panose="02020603050405020304" pitchFamily="18" charset="0"/>
                <a:cs typeface="Times New Roman" panose="02020603050405020304" pitchFamily="18" charset="0"/>
              </a:rPr>
              <a:t>the performance and functionality of desktop systems by conducting routine updates, monitoring network performance, and managing resources effectively.	</a:t>
            </a: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User </a:t>
            </a:r>
            <a:r>
              <a:rPr lang="en-US" sz="2400" b="1" dirty="0">
                <a:latin typeface="Times New Roman" panose="02020603050405020304" pitchFamily="18" charset="0"/>
                <a:cs typeface="Times New Roman" panose="02020603050405020304" pitchFamily="18" charset="0"/>
              </a:rPr>
              <a:t>Assistance &amp; </a:t>
            </a:r>
            <a:r>
              <a:rPr lang="en-US" sz="2400" b="1" dirty="0" smtClean="0">
                <a:latin typeface="Times New Roman" panose="02020603050405020304" pitchFamily="18" charset="0"/>
                <a:cs typeface="Times New Roman" panose="02020603050405020304" pitchFamily="18" charset="0"/>
              </a:rPr>
              <a:t>Training</a:t>
            </a:r>
            <a:r>
              <a:rPr lang="en-US" sz="2400" dirty="0" smtClean="0">
                <a:latin typeface="Times New Roman" panose="02020603050405020304" pitchFamily="18" charset="0"/>
                <a:cs typeface="Times New Roman" panose="02020603050405020304" pitchFamily="18" charset="0"/>
              </a:rPr>
              <a:t>: Provide </a:t>
            </a:r>
            <a:r>
              <a:rPr lang="en-US" sz="2400" dirty="0">
                <a:latin typeface="Times New Roman" panose="02020603050405020304" pitchFamily="18" charset="0"/>
                <a:cs typeface="Times New Roman" panose="02020603050405020304" pitchFamily="18" charset="0"/>
              </a:rPr>
              <a:t>guidance to end users on best practices for using networked systems and software, ensuring efficient workflows.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432951823"/>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46840"/>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US" sz="3200" dirty="0"/>
          </a:p>
        </p:txBody>
      </p:sp>
      <p:sp>
        <p:nvSpPr>
          <p:cNvPr id="3" name="Content Placeholder 2"/>
          <p:cNvSpPr>
            <a:spLocks noGrp="1"/>
          </p:cNvSpPr>
          <p:nvPr>
            <p:ph idx="1"/>
          </p:nvPr>
        </p:nvSpPr>
        <p:spPr>
          <a:xfrm>
            <a:off x="838200" y="1311966"/>
            <a:ext cx="10515600" cy="4864997"/>
          </a:xfrm>
        </p:spPr>
        <p:txBody>
          <a:bodyPr/>
          <a:lstStyle/>
          <a:p>
            <a:pPr algn="just"/>
            <a:r>
              <a:rPr lang="en-US" dirty="0" smtClean="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The goal was to ensure the proper functioning of desktop systems and networks, minimizing disruptions, and enabling end users to work efficiently</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Usage</a:t>
            </a:r>
            <a:r>
              <a:rPr lang="en-US" dirty="0">
                <a:latin typeface="Times New Roman" panose="02020603050405020304" pitchFamily="18" charset="0"/>
                <a:cs typeface="Times New Roman" panose="02020603050405020304" pitchFamily="18" charset="0"/>
              </a:rPr>
              <a:t>: My work helped ensure that both desktop systems and network infrastructures were optimized, reducing downtime and ensuring seamless access to resources. By providing technical support, I played a role in maintaining high productivity levels and smooth day-to-day operations for users across the organization.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3814701346"/>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536229"/>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Literature Review	</a:t>
            </a:r>
            <a:endParaRPr lang="en-US" sz="32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23751471"/>
              </p:ext>
            </p:extLst>
          </p:nvPr>
        </p:nvGraphicFramePr>
        <p:xfrm>
          <a:off x="838200" y="536575"/>
          <a:ext cx="10515600" cy="615696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891563917"/>
                    </a:ext>
                  </a:extLst>
                </a:gridCol>
                <a:gridCol w="3505200">
                  <a:extLst>
                    <a:ext uri="{9D8B030D-6E8A-4147-A177-3AD203B41FA5}">
                      <a16:colId xmlns:a16="http://schemas.microsoft.com/office/drawing/2014/main" val="409262212"/>
                    </a:ext>
                  </a:extLst>
                </a:gridCol>
                <a:gridCol w="3505200">
                  <a:extLst>
                    <a:ext uri="{9D8B030D-6E8A-4147-A177-3AD203B41FA5}">
                      <a16:colId xmlns:a16="http://schemas.microsoft.com/office/drawing/2014/main" val="2565216217"/>
                    </a:ext>
                  </a:extLst>
                </a:gridCol>
              </a:tblGrid>
              <a:tr h="386095">
                <a:tc>
                  <a:txBody>
                    <a:bodyPr/>
                    <a:lstStyle/>
                    <a:p>
                      <a:pPr algn="ctr"/>
                      <a:r>
                        <a:rPr lang="en-US" sz="2000" dirty="0" smtClean="0">
                          <a:latin typeface="Times New Roman" panose="02020603050405020304" pitchFamily="18" charset="0"/>
                          <a:cs typeface="Times New Roman" panose="02020603050405020304" pitchFamily="18" charset="0"/>
                        </a:rPr>
                        <a:t>Topic </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Description</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Key References</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1627906"/>
                  </a:ext>
                </a:extLst>
              </a:tr>
              <a:tr h="1808829">
                <a:tc>
                  <a:txBody>
                    <a:bodyPr/>
                    <a:lstStyle/>
                    <a:p>
                      <a:r>
                        <a:rPr lang="en-US" sz="2000" b="1" dirty="0" smtClean="0">
                          <a:latin typeface="Times New Roman" panose="02020603050405020304" pitchFamily="18" charset="0"/>
                          <a:cs typeface="Times New Roman" panose="02020603050405020304" pitchFamily="18" charset="0"/>
                        </a:rPr>
                        <a:t>Networking Infrastructure in Renewable Energy</a:t>
                      </a:r>
                      <a:endParaRPr lang="en-US" sz="2000"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Networking is essential for managing, monitoring, and optimizing solar power systems. It enables real-time data collection, performance tracking, and proactive maintenance.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Sundararajan, 2020: Discusses </a:t>
                      </a:r>
                      <a:r>
                        <a:rPr lang="en-US" sz="2000" dirty="0" err="1" smtClean="0">
                          <a:latin typeface="Times New Roman" panose="02020603050405020304" pitchFamily="18" charset="0"/>
                          <a:cs typeface="Times New Roman" panose="02020603050405020304" pitchFamily="18" charset="0"/>
                        </a:rPr>
                        <a:t>IoT</a:t>
                      </a:r>
                      <a:r>
                        <a:rPr lang="en-US" sz="2000" dirty="0" smtClean="0">
                          <a:latin typeface="Times New Roman" panose="02020603050405020304" pitchFamily="18" charset="0"/>
                          <a:cs typeface="Times New Roman" panose="02020603050405020304" pitchFamily="18" charset="0"/>
                        </a:rPr>
                        <a:t> and M2M communication in renewable energy systems.</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8541149"/>
                  </a:ext>
                </a:extLst>
              </a:tr>
              <a:tr h="1523224">
                <a:tc>
                  <a:txBody>
                    <a:bodyPr/>
                    <a:lstStyle/>
                    <a:p>
                      <a:r>
                        <a:rPr lang="en-US" sz="2000" b="1" dirty="0" smtClean="0">
                          <a:latin typeface="Times New Roman" panose="02020603050405020304" pitchFamily="18" charset="0"/>
                          <a:cs typeface="Times New Roman" panose="02020603050405020304" pitchFamily="18" charset="0"/>
                        </a:rPr>
                        <a:t>Cloud Computing for Data Analysis</a:t>
                      </a:r>
                      <a:endParaRPr lang="en-US" sz="2000"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Tata Power Solar uses cloud platforms for storing and analyzing operational data, leading to better decision-making and system optimization.</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Sundararajan, 2020: Highlights the role of cloud-based data aggregation in energy management.</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6745748"/>
                  </a:ext>
                </a:extLst>
              </a:tr>
              <a:tr h="1523224">
                <a:tc>
                  <a:txBody>
                    <a:bodyPr/>
                    <a:lstStyle/>
                    <a:p>
                      <a:r>
                        <a:rPr lang="en-US" sz="2000" b="1" dirty="0" smtClean="0">
                          <a:latin typeface="Times New Roman" panose="02020603050405020304" pitchFamily="18" charset="0"/>
                          <a:cs typeface="Times New Roman" panose="02020603050405020304" pitchFamily="18" charset="0"/>
                        </a:rPr>
                        <a:t>Desktop End-User Technologies (ERP/CRM)</a:t>
                      </a:r>
                      <a:endParaRPr lang="en-US" sz="2000"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Tata Power Solar relies on enterprise software like ERP and CRM to manage resources, customer relations, and projects effectively.</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Gupta, 2021: Discusses the role of ERP and CRM systems in improving business operations in renewable energy.</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71255069"/>
                  </a:ext>
                </a:extLst>
              </a:tr>
            </a:tbl>
          </a:graphicData>
        </a:graphic>
      </p:graphicFrame>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1775085683"/>
      </p:ext>
    </p:extLst>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569842"/>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US" sz="32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77162134"/>
              </p:ext>
            </p:extLst>
          </p:nvPr>
        </p:nvGraphicFramePr>
        <p:xfrm>
          <a:off x="838200" y="569912"/>
          <a:ext cx="10515600" cy="6151564"/>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535580921"/>
                    </a:ext>
                  </a:extLst>
                </a:gridCol>
                <a:gridCol w="3505200">
                  <a:extLst>
                    <a:ext uri="{9D8B030D-6E8A-4147-A177-3AD203B41FA5}">
                      <a16:colId xmlns:a16="http://schemas.microsoft.com/office/drawing/2014/main" val="432845462"/>
                    </a:ext>
                  </a:extLst>
                </a:gridCol>
                <a:gridCol w="3505200">
                  <a:extLst>
                    <a:ext uri="{9D8B030D-6E8A-4147-A177-3AD203B41FA5}">
                      <a16:colId xmlns:a16="http://schemas.microsoft.com/office/drawing/2014/main" val="1684484973"/>
                    </a:ext>
                  </a:extLst>
                </a:gridCol>
              </a:tblGrid>
              <a:tr h="439398">
                <a:tc>
                  <a:txBody>
                    <a:bodyPr/>
                    <a:lstStyle/>
                    <a:p>
                      <a:pPr algn="ctr"/>
                      <a:r>
                        <a:rPr lang="en-US" sz="2000" dirty="0" smtClean="0">
                          <a:latin typeface="Times New Roman" panose="02020603050405020304" pitchFamily="18" charset="0"/>
                          <a:cs typeface="Times New Roman" panose="02020603050405020304" pitchFamily="18" charset="0"/>
                        </a:rPr>
                        <a:t>Topic </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Description</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Key References</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6772307"/>
                  </a:ext>
                </a:extLst>
              </a:tr>
              <a:tr h="1791389">
                <a:tc>
                  <a:txBody>
                    <a:bodyPr/>
                    <a:lstStyle/>
                    <a:p>
                      <a:r>
                        <a:rPr lang="en-US" sz="2000" b="1" dirty="0" smtClean="0">
                          <a:latin typeface="Times New Roman" panose="02020603050405020304" pitchFamily="18" charset="0"/>
                          <a:cs typeface="Times New Roman" panose="02020603050405020304" pitchFamily="18" charset="0"/>
                        </a:rPr>
                        <a:t>Solar Design and Simulation Software</a:t>
                      </a:r>
                      <a:endParaRPr lang="en-US" sz="2000"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Tools like AutoCAD and </a:t>
                      </a:r>
                      <a:r>
                        <a:rPr lang="en-US" sz="2000" dirty="0" err="1" smtClean="0">
                          <a:latin typeface="Times New Roman" panose="02020603050405020304" pitchFamily="18" charset="0"/>
                          <a:cs typeface="Times New Roman" panose="02020603050405020304" pitchFamily="18" charset="0"/>
                        </a:rPr>
                        <a:t>PVSyst</a:t>
                      </a:r>
                      <a:r>
                        <a:rPr lang="en-US" sz="2000" dirty="0" smtClean="0">
                          <a:latin typeface="Times New Roman" panose="02020603050405020304" pitchFamily="18" charset="0"/>
                          <a:cs typeface="Times New Roman" panose="02020603050405020304" pitchFamily="18" charset="0"/>
                        </a:rPr>
                        <a:t> are used for designing and simulating solar power systems, enhancing project accuracy and efficiency.</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Gupta, 2021: Explores the use of specialized software in solar power system design.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28994367"/>
                  </a:ext>
                </a:extLst>
              </a:tr>
              <a:tr h="1791389">
                <a:tc>
                  <a:txBody>
                    <a:bodyPr/>
                    <a:lstStyle/>
                    <a:p>
                      <a:r>
                        <a:rPr lang="en-US" sz="2000" b="1" dirty="0" smtClean="0">
                          <a:latin typeface="Times New Roman" panose="02020603050405020304" pitchFamily="18" charset="0"/>
                          <a:cs typeface="Times New Roman" panose="02020603050405020304" pitchFamily="18" charset="0"/>
                        </a:rPr>
                        <a:t>Cybersecurity in Networking and Desktop Technologies</a:t>
                      </a:r>
                      <a:endParaRPr lang="en-US" sz="2000"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Ensuring data integrity and protecting against cyber threats is critical for Tata Power Solar, especially with the use of </a:t>
                      </a:r>
                      <a:r>
                        <a:rPr lang="en-US" sz="2000" dirty="0" err="1" smtClean="0">
                          <a:latin typeface="Times New Roman" panose="02020603050405020304" pitchFamily="18" charset="0"/>
                          <a:cs typeface="Times New Roman" panose="02020603050405020304" pitchFamily="18" charset="0"/>
                        </a:rPr>
                        <a:t>IoT</a:t>
                      </a:r>
                      <a:r>
                        <a:rPr lang="en-US" sz="2000" dirty="0" smtClean="0">
                          <a:latin typeface="Times New Roman" panose="02020603050405020304" pitchFamily="18" charset="0"/>
                          <a:cs typeface="Times New Roman" panose="02020603050405020304" pitchFamily="18" charset="0"/>
                        </a:rPr>
                        <a:t> and cloud technologies.</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Zhou &amp; Liu, 2019: Emphasizes the importance of encryption, firewalls, and intrusion detection in industrial networks.</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10110834"/>
                  </a:ext>
                </a:extLst>
              </a:tr>
              <a:tr h="2129388">
                <a:tc>
                  <a:txBody>
                    <a:bodyPr/>
                    <a:lstStyle/>
                    <a:p>
                      <a:r>
                        <a:rPr lang="en-US" sz="2000" b="1" dirty="0" smtClean="0">
                          <a:latin typeface="Times New Roman" panose="02020603050405020304" pitchFamily="18" charset="0"/>
                          <a:cs typeface="Times New Roman" panose="02020603050405020304" pitchFamily="18" charset="0"/>
                        </a:rPr>
                        <a:t>Remote Work and Virtual Desktop Solutions</a:t>
                      </a:r>
                      <a:endParaRPr lang="en-US" sz="2000"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Post-pandemic, Tata Power Solar adopted Remote Desktop Services (RDS) and Virtual Desktop Infrastructure (VDI) for secure and flexible working environments.</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Industry trend analysis, 2020: Remote work solutions and cloud-based desktop access in energy sector.</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4481585"/>
                  </a:ext>
                </a:extLst>
              </a:tr>
            </a:tbl>
          </a:graphicData>
        </a:graphic>
      </p:graphicFrame>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3636277866"/>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755"/>
            <a:ext cx="10515600" cy="589237"/>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Proposed System/Work</a:t>
            </a:r>
            <a:endParaRPr lang="en-US" sz="3200" dirty="0"/>
          </a:p>
        </p:txBody>
      </p:sp>
      <p:sp>
        <p:nvSpPr>
          <p:cNvPr id="3" name="Content Placeholder 2"/>
          <p:cNvSpPr>
            <a:spLocks noGrp="1"/>
          </p:cNvSpPr>
          <p:nvPr>
            <p:ph idx="1"/>
          </p:nvPr>
        </p:nvSpPr>
        <p:spPr>
          <a:xfrm>
            <a:off x="838200" y="437322"/>
            <a:ext cx="10515600" cy="5406887"/>
          </a:xfrm>
        </p:spPr>
        <p:txBody>
          <a:bodyPr/>
          <a:lstStyle/>
          <a:p>
            <a:pPr marL="0" indent="0" algn="just">
              <a:buNone/>
            </a:pPr>
            <a:r>
              <a:rPr lang="en-US" b="1" u="sng" dirty="0">
                <a:latin typeface="Times New Roman" panose="02020603050405020304" pitchFamily="18" charset="0"/>
                <a:cs typeface="Times New Roman" panose="02020603050405020304" pitchFamily="18" charset="0"/>
              </a:rPr>
              <a:t>Networking </a:t>
            </a:r>
            <a:r>
              <a:rPr lang="en-US" b="1" u="sng" dirty="0" smtClean="0">
                <a:latin typeface="Times New Roman" panose="02020603050405020304" pitchFamily="18" charset="0"/>
                <a:cs typeface="Times New Roman" panose="02020603050405020304" pitchFamily="18" charset="0"/>
              </a:rPr>
              <a:t>Support</a:t>
            </a:r>
          </a:p>
          <a:p>
            <a:pPr marL="0" indent="0" algn="just">
              <a:buNone/>
            </a:pPr>
            <a:r>
              <a:rPr lang="en-US" b="1" dirty="0">
                <a:latin typeface="Times New Roman" panose="02020603050405020304" pitchFamily="18" charset="0"/>
                <a:cs typeface="Times New Roman" panose="02020603050405020304" pitchFamily="18" charset="0"/>
              </a:rPr>
              <a:t>Network Configuration &amp; </a:t>
            </a:r>
            <a:r>
              <a:rPr lang="en-US" b="1" dirty="0" smtClean="0">
                <a:latin typeface="Times New Roman" panose="02020603050405020304" pitchFamily="18" charset="0"/>
                <a:cs typeface="Times New Roman" panose="02020603050405020304" pitchFamily="18" charset="0"/>
              </a:rPr>
              <a:t>Setup:</a:t>
            </a:r>
          </a:p>
          <a:p>
            <a:pPr algn="just"/>
            <a:r>
              <a:rPr lang="en-US" dirty="0">
                <a:latin typeface="Times New Roman" panose="02020603050405020304" pitchFamily="18" charset="0"/>
                <a:cs typeface="Times New Roman" panose="02020603050405020304" pitchFamily="18" charset="0"/>
              </a:rPr>
              <a:t>Assist with routers, switches, firewalls, and wireless networks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Configure DNS, DHCP, VPN</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Troubleshooting Network Issues</a:t>
            </a:r>
            <a:r>
              <a:rPr lang="en-US" b="1"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Use tools (ping, traceroute, Wireshark) to identify and resolve network </a:t>
            </a:r>
            <a:r>
              <a:rPr lang="en-US" dirty="0" smtClean="0">
                <a:latin typeface="Times New Roman" panose="02020603050405020304" pitchFamily="18" charset="0"/>
                <a:cs typeface="Times New Roman" panose="02020603050405020304" pitchFamily="18" charset="0"/>
              </a:rPr>
              <a:t>problems.</a:t>
            </a:r>
          </a:p>
          <a:p>
            <a:pPr marL="0" indent="0" algn="just">
              <a:buNone/>
            </a:pPr>
            <a:r>
              <a:rPr lang="en-US" b="1" dirty="0">
                <a:latin typeface="Times New Roman" panose="02020603050405020304" pitchFamily="18" charset="0"/>
                <a:cs typeface="Times New Roman" panose="02020603050405020304" pitchFamily="18" charset="0"/>
              </a:rPr>
              <a:t>Network Monitoring &amp; Security</a:t>
            </a:r>
            <a:r>
              <a:rPr lang="en-US" b="1"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Monitor performance with network tools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Assist with firewall configuration, antivirus setup, and security practices.</a:t>
            </a:r>
            <a:endParaRPr lang="en-US"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715983430"/>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764"/>
            <a:ext cx="10515600" cy="768625"/>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System/Work</a:t>
            </a:r>
            <a:endParaRPr lang="en-US" sz="3200" dirty="0"/>
          </a:p>
        </p:txBody>
      </p:sp>
      <p:sp>
        <p:nvSpPr>
          <p:cNvPr id="3" name="Content Placeholder 2"/>
          <p:cNvSpPr>
            <a:spLocks noGrp="1"/>
          </p:cNvSpPr>
          <p:nvPr>
            <p:ph idx="1"/>
          </p:nvPr>
        </p:nvSpPr>
        <p:spPr>
          <a:xfrm>
            <a:off x="838200" y="530087"/>
            <a:ext cx="10515600" cy="5646876"/>
          </a:xfrm>
        </p:spPr>
        <p:txBody>
          <a:bodyPr/>
          <a:lstStyle/>
          <a:p>
            <a:pPr marL="0" indent="0" algn="just">
              <a:buNone/>
            </a:pPr>
            <a:r>
              <a:rPr lang="en-US" b="1" u="sng" dirty="0">
                <a:latin typeface="Times New Roman" panose="02020603050405020304" pitchFamily="18" charset="0"/>
                <a:cs typeface="Times New Roman" panose="02020603050405020304" pitchFamily="18" charset="0"/>
              </a:rPr>
              <a:t>Desktop End-User </a:t>
            </a:r>
            <a:r>
              <a:rPr lang="en-US" b="1" u="sng" dirty="0" smtClean="0">
                <a:latin typeface="Times New Roman" panose="02020603050405020304" pitchFamily="18" charset="0"/>
                <a:cs typeface="Times New Roman" panose="02020603050405020304" pitchFamily="18" charset="0"/>
              </a:rPr>
              <a:t>Support</a:t>
            </a:r>
          </a:p>
          <a:p>
            <a:pPr marL="0" indent="0" algn="just">
              <a:buNone/>
            </a:pPr>
            <a:r>
              <a:rPr lang="en-US" b="1" dirty="0">
                <a:latin typeface="Times New Roman" panose="02020603050405020304" pitchFamily="18" charset="0"/>
                <a:cs typeface="Times New Roman" panose="02020603050405020304" pitchFamily="18" charset="0"/>
              </a:rPr>
              <a:t>Desktop Setup &amp; Installation</a:t>
            </a:r>
            <a:r>
              <a:rPr lang="en-US" b="1"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Install and configure OS (Windows, </a:t>
            </a:r>
            <a:r>
              <a:rPr lang="en-US" dirty="0" err="1">
                <a:latin typeface="Times New Roman" panose="02020603050405020304" pitchFamily="18" charset="0"/>
                <a:cs typeface="Times New Roman" panose="02020603050405020304" pitchFamily="18" charset="0"/>
              </a:rPr>
              <a:t>macOS</a:t>
            </a:r>
            <a:r>
              <a:rPr lang="en-US" dirty="0">
                <a:latin typeface="Times New Roman" panose="02020603050405020304" pitchFamily="18" charset="0"/>
                <a:cs typeface="Times New Roman" panose="02020603050405020304" pitchFamily="18" charset="0"/>
              </a:rPr>
              <a:t>, Linux) and software</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Troubleshooting &amp; Support</a:t>
            </a:r>
            <a:r>
              <a:rPr lang="en-US" b="1"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Assist with hardware/software issues, connectivity, and system </a:t>
            </a:r>
            <a:r>
              <a:rPr lang="en-US" dirty="0" smtClean="0">
                <a:latin typeface="Times New Roman" panose="02020603050405020304" pitchFamily="18" charset="0"/>
                <a:cs typeface="Times New Roman" panose="02020603050405020304" pitchFamily="18" charset="0"/>
              </a:rPr>
              <a:t>performance.</a:t>
            </a:r>
          </a:p>
          <a:p>
            <a:pPr algn="just"/>
            <a:r>
              <a:rPr lang="en-US" dirty="0">
                <a:latin typeface="Times New Roman" panose="02020603050405020304" pitchFamily="18" charset="0"/>
                <a:cs typeface="Times New Roman" panose="02020603050405020304" pitchFamily="18" charset="0"/>
              </a:rPr>
              <a:t>Provide remote support using tools like TeamViewer</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Training &amp; Documentation</a:t>
            </a:r>
            <a:r>
              <a:rPr lang="en-US" b="1"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Create user manuals and guides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Conduct training on software usage and security </a:t>
            </a:r>
            <a:r>
              <a:rPr lang="en-US" dirty="0" smtClean="0">
                <a:latin typeface="Times New Roman" panose="02020603050405020304" pitchFamily="18" charset="0"/>
                <a:cs typeface="Times New Roman" panose="02020603050405020304" pitchFamily="18" charset="0"/>
              </a:rPr>
              <a:t>practices.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1972149420"/>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279"/>
            <a:ext cx="10515600" cy="980660"/>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US" sz="3200" dirty="0"/>
          </a:p>
        </p:txBody>
      </p:sp>
      <p:sp>
        <p:nvSpPr>
          <p:cNvPr id="3" name="Content Placeholder 2"/>
          <p:cNvSpPr>
            <a:spLocks noGrp="1"/>
          </p:cNvSpPr>
          <p:nvPr>
            <p:ph idx="1"/>
          </p:nvPr>
        </p:nvSpPr>
        <p:spPr>
          <a:xfrm>
            <a:off x="838200" y="1152939"/>
            <a:ext cx="10515600" cy="4359965"/>
          </a:xfrm>
        </p:spPr>
        <p:txBody>
          <a:bodyPr/>
          <a:lstStyle/>
          <a:p>
            <a:pPr marL="0" indent="0" algn="just">
              <a:buNone/>
            </a:pPr>
            <a:r>
              <a:rPr lang="en-US" dirty="0">
                <a:latin typeface="Times New Roman" panose="02020603050405020304" pitchFamily="18" charset="0"/>
                <a:cs typeface="Times New Roman" panose="02020603050405020304" pitchFamily="18" charset="0"/>
              </a:rPr>
              <a:t>In modern organizations, the seamless operation of both networking infrastructure and end-user desktop environments is critical to ensuring high productivity and minimizing downtime. The challenge lies in maintaining efficient network configurations, troubleshooting connectivity issues, and providing timely support for end-users dealing with hardware, software, and performance issues. Interns in this domain will be tasked with assisting in the optimization of networking systems, providing frontline technical support, and ensuring smooth integration between network infrastructure and desktop systems, ultimately improving user experience and IT operations.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1539448969"/>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1792"/>
            <a:ext cx="10515600" cy="62285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US" sz="3200" dirty="0"/>
          </a:p>
        </p:txBody>
      </p:sp>
      <p:sp>
        <p:nvSpPr>
          <p:cNvPr id="3" name="Content Placeholder 2"/>
          <p:cNvSpPr>
            <a:spLocks noGrp="1"/>
          </p:cNvSpPr>
          <p:nvPr>
            <p:ph idx="1"/>
          </p:nvPr>
        </p:nvSpPr>
        <p:spPr>
          <a:xfrm>
            <a:off x="838200" y="1061347"/>
            <a:ext cx="10515600" cy="5660128"/>
          </a:xfrm>
        </p:spPr>
        <p:txBody>
          <a:bodyPr/>
          <a:lstStyle/>
          <a:p>
            <a:pPr marL="0" indent="0" algn="just">
              <a:buNone/>
            </a:pPr>
            <a:r>
              <a:rPr lang="en-US" b="1" dirty="0">
                <a:latin typeface="Times New Roman" panose="02020603050405020304" pitchFamily="18" charset="0"/>
                <a:cs typeface="Times New Roman" panose="02020603050405020304" pitchFamily="18" charset="0"/>
              </a:rPr>
              <a:t>1. </a:t>
            </a:r>
            <a:r>
              <a:rPr lang="en-US" b="1" u="sng" dirty="0">
                <a:latin typeface="Times New Roman" panose="02020603050405020304" pitchFamily="18" charset="0"/>
                <a:cs typeface="Times New Roman" panose="02020603050405020304" pitchFamily="18" charset="0"/>
              </a:rPr>
              <a:t>Hardware:</a:t>
            </a:r>
            <a:endParaRPr lang="en-US" u="sng"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PC/Laptop:</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Minimum 8 GB </a:t>
            </a:r>
            <a:r>
              <a:rPr lang="en-US" dirty="0" smtClean="0">
                <a:latin typeface="Times New Roman" panose="02020603050405020304" pitchFamily="18" charset="0"/>
                <a:cs typeface="Times New Roman" panose="02020603050405020304" pitchFamily="18" charset="0"/>
              </a:rPr>
              <a:t>RAM, Dual-core CPU.</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256 GB SSD or 500 GB HDD.</a:t>
            </a:r>
          </a:p>
          <a:p>
            <a:pPr algn="just"/>
            <a:r>
              <a:rPr lang="en-US" dirty="0">
                <a:latin typeface="Times New Roman" panose="02020603050405020304" pitchFamily="18" charset="0"/>
                <a:cs typeface="Times New Roman" panose="02020603050405020304" pitchFamily="18" charset="0"/>
              </a:rPr>
              <a:t>Ethernet &amp; Wi-Fi adapters.</a:t>
            </a:r>
          </a:p>
          <a:p>
            <a:pPr marL="0" indent="0" algn="just">
              <a:buNone/>
            </a:pPr>
            <a:r>
              <a:rPr lang="en-US" b="1" dirty="0">
                <a:latin typeface="Times New Roman" panose="02020603050405020304" pitchFamily="18" charset="0"/>
                <a:cs typeface="Times New Roman" panose="02020603050405020304" pitchFamily="18" charset="0"/>
              </a:rPr>
              <a:t>Networking </a:t>
            </a:r>
            <a:r>
              <a:rPr lang="en-US" b="1" dirty="0" smtClean="0">
                <a:latin typeface="Times New Roman" panose="02020603050405020304" pitchFamily="18" charset="0"/>
                <a:cs typeface="Times New Roman" panose="02020603050405020304" pitchFamily="18" charset="0"/>
              </a:rPr>
              <a:t>Equipment: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Routers, switches, Ethernet cables for testing</a:t>
            </a:r>
            <a:r>
              <a:rPr lang="en-US" dirty="0" smtClean="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438241738"/>
      </p:ext>
    </p:extLst>
  </p:cSld>
  <p:clrMapOvr>
    <a:masterClrMapping/>
  </p:clrMapOvr>
  <p:transition spd="slow">
    <p:blinds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US" sz="3200" dirty="0"/>
          </a:p>
        </p:txBody>
      </p:sp>
      <p:sp>
        <p:nvSpPr>
          <p:cNvPr id="3" name="Content Placeholder 2"/>
          <p:cNvSpPr>
            <a:spLocks noGrp="1"/>
          </p:cNvSpPr>
          <p:nvPr>
            <p:ph idx="1"/>
          </p:nvPr>
        </p:nvSpPr>
        <p:spPr>
          <a:xfrm>
            <a:off x="838200" y="1149764"/>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2. </a:t>
            </a:r>
            <a:r>
              <a:rPr lang="en-US" b="1" u="sng" dirty="0">
                <a:latin typeface="Times New Roman" panose="02020603050405020304" pitchFamily="18" charset="0"/>
                <a:cs typeface="Times New Roman" panose="02020603050405020304" pitchFamily="18" charset="0"/>
              </a:rPr>
              <a:t>Software:</a:t>
            </a:r>
            <a:endParaRPr lang="en-US" u="sng"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Operating Systems: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Windows 10/11, </a:t>
            </a:r>
            <a:r>
              <a:rPr lang="en-US" dirty="0" err="1">
                <a:latin typeface="Times New Roman" panose="02020603050405020304" pitchFamily="18" charset="0"/>
                <a:cs typeface="Times New Roman" panose="02020603050405020304" pitchFamily="18" charset="0"/>
              </a:rPr>
              <a:t>macOS</a:t>
            </a:r>
            <a:r>
              <a:rPr lang="en-US" dirty="0">
                <a:latin typeface="Times New Roman" panose="02020603050405020304" pitchFamily="18" charset="0"/>
                <a:cs typeface="Times New Roman" panose="02020603050405020304" pitchFamily="18" charset="0"/>
              </a:rPr>
              <a:t>, or Linux.</a:t>
            </a:r>
          </a:p>
          <a:p>
            <a:r>
              <a:rPr lang="en-US" dirty="0">
                <a:latin typeface="Times New Roman" panose="02020603050405020304" pitchFamily="18" charset="0"/>
                <a:cs typeface="Times New Roman" panose="02020603050405020304" pitchFamily="18" charset="0"/>
              </a:rPr>
              <a:t>Virtualization software (VMware, </a:t>
            </a:r>
            <a:r>
              <a:rPr lang="en-US" dirty="0" err="1">
                <a:latin typeface="Times New Roman" panose="02020603050405020304" pitchFamily="18" charset="0"/>
                <a:cs typeface="Times New Roman" panose="02020603050405020304" pitchFamily="18" charset="0"/>
              </a:rPr>
              <a:t>VirtualBox</a:t>
            </a: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Tools:</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Remote </a:t>
            </a:r>
            <a:r>
              <a:rPr lang="en-US" dirty="0">
                <a:latin typeface="Times New Roman" panose="02020603050405020304" pitchFamily="18" charset="0"/>
                <a:cs typeface="Times New Roman" panose="02020603050405020304" pitchFamily="18" charset="0"/>
              </a:rPr>
              <a:t>Support: TeamViewer, Remote Desktop.</a:t>
            </a:r>
          </a:p>
          <a:p>
            <a:r>
              <a:rPr lang="en-US" dirty="0">
                <a:latin typeface="Times New Roman" panose="02020603050405020304" pitchFamily="18" charset="0"/>
                <a:cs typeface="Times New Roman" panose="02020603050405020304" pitchFamily="18" charset="0"/>
              </a:rPr>
              <a:t>IT Support: Ticketing </a:t>
            </a:r>
            <a:r>
              <a:rPr lang="en-US" dirty="0" smtClean="0">
                <a:latin typeface="Times New Roman" panose="02020603050405020304" pitchFamily="18" charset="0"/>
                <a:cs typeface="Times New Roman" panose="02020603050405020304" pitchFamily="18" charset="0"/>
              </a:rPr>
              <a:t>systems.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3809487794"/>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075" y="1"/>
            <a:ext cx="10515600" cy="3548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US" sz="3200" dirty="0"/>
          </a:p>
        </p:txBody>
      </p:sp>
      <p:sp>
        <p:nvSpPr>
          <p:cNvPr id="3" name="Content Placeholder 2"/>
          <p:cNvSpPr>
            <a:spLocks noGrp="1"/>
          </p:cNvSpPr>
          <p:nvPr>
            <p:ph idx="1"/>
          </p:nvPr>
        </p:nvSpPr>
        <p:spPr>
          <a:xfrm>
            <a:off x="838200" y="354842"/>
            <a:ext cx="10515600" cy="5500048"/>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1. Practical Hands-On Experience:</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Gain real-world exposure to networking infrastructure, desktop setups, and troubleshooting.</a:t>
            </a:r>
          </a:p>
          <a:p>
            <a:pPr marL="0" indent="0" algn="just">
              <a:buNone/>
            </a:pPr>
            <a:r>
              <a:rPr lang="en-US" sz="2000" b="1" dirty="0">
                <a:latin typeface="Times New Roman" panose="02020603050405020304" pitchFamily="18" charset="0"/>
                <a:cs typeface="Times New Roman" panose="02020603050405020304" pitchFamily="18" charset="0"/>
              </a:rPr>
              <a:t>2. Skill Enhancement: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Develop technical skills in configuring networks, managing security, and supporting end-user devices.</a:t>
            </a:r>
          </a:p>
          <a:p>
            <a:pPr marL="0" indent="0" algn="just">
              <a:buNone/>
            </a:pPr>
            <a:r>
              <a:rPr lang="en-US" sz="2000" b="1" dirty="0" smtClean="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 Problem-Solving &amp; Troubleshooting:</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Build critical thinking and problem-solving skills while addressing real-time IT issues.</a:t>
            </a:r>
          </a:p>
          <a:p>
            <a:pPr marL="0" indent="0" algn="just">
              <a:buNone/>
            </a:pPr>
            <a:r>
              <a:rPr lang="en-US" sz="2000" b="1" dirty="0">
                <a:latin typeface="Times New Roman" panose="02020603050405020304" pitchFamily="18" charset="0"/>
                <a:cs typeface="Times New Roman" panose="02020603050405020304" pitchFamily="18" charset="0"/>
              </a:rPr>
              <a:t>5. Career Development: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Gain experience in IT support roles, preparing for future job opportunities in networking and system administration.</a:t>
            </a:r>
          </a:p>
          <a:p>
            <a:pPr marL="0" indent="0" algn="just">
              <a:buNone/>
            </a:pPr>
            <a:r>
              <a:rPr lang="en-US" sz="2000" b="1" dirty="0">
                <a:latin typeface="Times New Roman" panose="02020603050405020304" pitchFamily="18" charset="0"/>
                <a:cs typeface="Times New Roman" panose="02020603050405020304" pitchFamily="18" charset="0"/>
              </a:rPr>
              <a:t>6. Effective Communication:</a:t>
            </a:r>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Improve customer service and communication skills by assisting users and creating documentation.</a:t>
            </a:r>
          </a:p>
          <a:p>
            <a:pPr marL="0" indent="0" algn="just">
              <a:buNone/>
            </a:pPr>
            <a:r>
              <a:rPr lang="en-US" sz="2000" b="1" dirty="0" smtClean="0">
                <a:latin typeface="Times New Roman" panose="02020603050405020304" pitchFamily="18" charset="0"/>
                <a:cs typeface="Times New Roman" panose="02020603050405020304" pitchFamily="18" charset="0"/>
              </a:rPr>
              <a:t>7</a:t>
            </a:r>
            <a:r>
              <a:rPr lang="en-US" sz="2000" b="1" dirty="0">
                <a:latin typeface="Times New Roman" panose="02020603050405020304" pitchFamily="18" charset="0"/>
                <a:cs typeface="Times New Roman" panose="02020603050405020304" pitchFamily="18" charset="0"/>
              </a:rPr>
              <a:t>. Networking with Industry Professionals: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Collaborate with experienced IT teams, enhancing your professional network and industry </a:t>
            </a:r>
            <a:r>
              <a:rPr lang="en-US" sz="2000" dirty="0" smtClean="0">
                <a:latin typeface="Times New Roman" panose="02020603050405020304" pitchFamily="18" charset="0"/>
                <a:cs typeface="Times New Roman" panose="02020603050405020304" pitchFamily="18" charset="0"/>
              </a:rPr>
              <a:t>connections.</a:t>
            </a:r>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708466758"/>
      </p:ext>
    </p:extLst>
  </p:cSld>
  <p:clrMapOvr>
    <a:masterClrMapping/>
  </p:clrMapOvr>
  <p:transition spd="slow">
    <p:blinds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Internship Road Map</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19</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595332163"/>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smtClean="0">
                <a:solidFill>
                  <a:srgbClr val="0070C0"/>
                </a:solidFill>
              </a:rPr>
              <a:t>Note: Write in the below table what u will be achieving in each review</a:t>
            </a:r>
            <a:endParaRPr lang="en-GB" dirty="0">
              <a:solidFill>
                <a:srgbClr val="0070C0"/>
              </a:solidFill>
            </a:endParaRPr>
          </a:p>
        </p:txBody>
      </p:sp>
    </p:spTree>
    <p:extLst>
      <p:ext uri="{BB962C8B-B14F-4D97-AF65-F5344CB8AC3E}">
        <p14:creationId xmlns:p14="http://schemas.microsoft.com/office/powerpoint/2010/main" val="2235674506"/>
      </p:ext>
    </p:extLst>
  </p:cSld>
  <p:clrMapOvr>
    <a:masterClrMapping/>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
        <p:nvSpPr>
          <p:cNvPr id="3" name="Content Placeholder 2"/>
          <p:cNvSpPr>
            <a:spLocks noGrp="1"/>
          </p:cNvSpPr>
          <p:nvPr>
            <p:ph idx="1"/>
          </p:nvPr>
        </p:nvSpPr>
        <p:spPr>
          <a:xfrm>
            <a:off x="446308" y="1061297"/>
            <a:ext cx="10515600" cy="4351338"/>
          </a:xfrm>
        </p:spPr>
        <p:txBody>
          <a:bodyPr/>
          <a:lstStyle/>
          <a:p>
            <a:pPr marL="342900" indent="-190500" algn="just">
              <a:spcBef>
                <a:spcPts val="0"/>
              </a:spcBef>
              <a:buSzPct val="100000"/>
              <a:buNone/>
            </a:pPr>
            <a:endParaRPr lang="en-US" dirty="0" smtClean="0">
              <a:solidFill>
                <a:srgbClr val="0070C0"/>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dirty="0">
              <a:solidFill>
                <a:srgbClr val="0070C0"/>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3600" dirty="0" smtClean="0">
                <a:solidFill>
                  <a:srgbClr val="0070C0"/>
                </a:solidFill>
                <a:latin typeface="Cambria" panose="02040503050406030204" pitchFamily="18" charset="0"/>
                <a:ea typeface="Cambria" panose="02040503050406030204" pitchFamily="18" charset="0"/>
              </a:rPr>
              <a:t>  https</a:t>
            </a:r>
            <a:r>
              <a:rPr lang="en-US" sz="3600" dirty="0">
                <a:solidFill>
                  <a:srgbClr val="0070C0"/>
                </a:solidFill>
                <a:latin typeface="Cambria" panose="02040503050406030204" pitchFamily="18" charset="0"/>
                <a:ea typeface="Cambria" panose="02040503050406030204" pitchFamily="18" charset="0"/>
              </a:rPr>
              <a:t>://github.com/siriu23/Final_Yea</a:t>
            </a:r>
            <a:r>
              <a:rPr lang="en-US" sz="3600"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r14</a:t>
            </a:r>
            <a:r>
              <a:rPr lang="en-US" sz="3600" dirty="0">
                <a:solidFill>
                  <a:srgbClr val="0070C0"/>
                </a:solidFill>
                <a:latin typeface="Cambria" panose="02040503050406030204" pitchFamily="18" charset="0"/>
                <a:ea typeface="Cambria" panose="02040503050406030204" pitchFamily="18" charset="0"/>
              </a:rPr>
              <a:t>4</a:t>
            </a:r>
          </a:p>
        </p:txBody>
      </p:sp>
    </p:spTree>
    <p:extLst>
      <p:ext uri="{BB962C8B-B14F-4D97-AF65-F5344CB8AC3E}">
        <p14:creationId xmlns:p14="http://schemas.microsoft.com/office/powerpoint/2010/main" val="1163375810"/>
      </p:ext>
    </p:extLst>
  </p:cSld>
  <p:clrMapOvr>
    <a:masterClrMapping/>
  </p:clrMapOvr>
  <p:transition spd="slow">
    <p:blinds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470390"/>
      </p:ext>
    </p:extLst>
  </p:cSld>
  <p:clrMapOvr>
    <a:masterClrMapping/>
  </p:clrMapOvr>
  <p:transition spd="slow">
    <p:blinds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Tree>
    <p:extLst>
      <p:ext uri="{BB962C8B-B14F-4D97-AF65-F5344CB8AC3E}">
        <p14:creationId xmlns:p14="http://schemas.microsoft.com/office/powerpoint/2010/main" val="3798440382"/>
      </p:ext>
    </p:extLst>
  </p:cSld>
  <p:clrMapOvr>
    <a:masterClrMapping/>
  </p:clrMapOvr>
  <p:transition spd="slow">
    <p:blinds dir="vert"/>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7889</TotalTime>
  <Words>1520</Words>
  <Application>Microsoft Office PowerPoint</Application>
  <PresentationFormat>Widescreen</PresentationFormat>
  <Paragraphs>193</Paragraphs>
  <Slides>22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About Company or Organization</vt:lpstr>
      <vt:lpstr> About Company or Organization</vt:lpstr>
      <vt:lpstr>About Company or Organization</vt:lpstr>
      <vt:lpstr>Working domain or the technology</vt:lpstr>
      <vt:lpstr>About your team and reporting Manager</vt:lpstr>
      <vt:lpstr>Challenges Faced in Internship</vt:lpstr>
      <vt:lpstr>Objectives of the work</vt:lpstr>
      <vt:lpstr>Objectives of the work</vt:lpstr>
      <vt:lpstr>Literature Review </vt:lpstr>
      <vt:lpstr>Literature Review</vt:lpstr>
      <vt:lpstr>Proposed System/Work</vt:lpstr>
      <vt:lpstr>Proposed System/Work</vt:lpstr>
      <vt:lpstr>Problem Statement</vt:lpstr>
      <vt:lpstr>System Requirements</vt:lpstr>
      <vt:lpstr>System Requirements</vt:lpstr>
      <vt:lpstr>Advantages of Proposed System/Work</vt:lpstr>
      <vt:lpstr>Internship Road Map</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Sreekanta Swamy</cp:lastModifiedBy>
  <cp:revision>932</cp:revision>
  <cp:lastPrinted>2018-07-24T06:37:20Z</cp:lastPrinted>
  <dcterms:created xsi:type="dcterms:W3CDTF">2018-06-07T04:06:17Z</dcterms:created>
  <dcterms:modified xsi:type="dcterms:W3CDTF">2025-02-19T06:28:10Z</dcterms:modified>
</cp:coreProperties>
</file>